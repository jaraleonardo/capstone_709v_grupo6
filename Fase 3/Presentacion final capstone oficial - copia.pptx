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2" r:id="rId7"/>
    <p:sldId id="263" r:id="rId8"/>
    <p:sldId id="261"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gAiKFg8qRy1M8WS2W3D/VXl0y/0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66B0138-0642-4518-8C89-E85BDC20D84F}">
  <a:tblStyle styleId="{266B0138-0642-4518-8C89-E85BDC20D84F}"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3" name="Google Shape;11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db49ca0c1_7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adb49ca0c1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4" name="Google Shape;15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5" name="Google Shape;17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7" name="Google Shape;18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6" name="Google Shape;19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5" name="Google Shape;20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7" name="Google Shape;21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7" name="Google Shape;22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3" name="Google Shape;23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adb49ca0c1_7_1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adb49ca0c1_7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7" name="Google Shape;24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adb49ca0c1_0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adb49ca0c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0" name="Google Shape;26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spTree>
      <p:nvGrpSpPr>
        <p:cNvPr id="1" name="Shape 14"/>
        <p:cNvGrpSpPr/>
        <p:nvPr/>
      </p:nvGrpSpPr>
      <p:grpSpPr>
        <a:xfrm>
          <a:off x="0" y="0"/>
          <a:ext cx="0" cy="0"/>
          <a:chOff x="0" y="0"/>
          <a:chExt cx="0" cy="0"/>
        </a:xfrm>
      </p:grpSpPr>
      <p:sp>
        <p:nvSpPr>
          <p:cNvPr id="15" name="Google Shape;15;p28"/>
          <p:cNvSpPr/>
          <p:nvPr/>
        </p:nvSpPr>
        <p:spPr>
          <a:xfrm>
            <a:off x="3175" y="6400800"/>
            <a:ext cx="12188825" cy="457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6" name="Google Shape;16;p28"/>
          <p:cNvSpPr/>
          <p:nvPr/>
        </p:nvSpPr>
        <p:spPr>
          <a:xfrm>
            <a:off x="15" y="6334316"/>
            <a:ext cx="12188825" cy="64008"/>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7" name="Google Shape;17;p28"/>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8"/>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19" name="Google Shape;19;p2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s-CL"/>
              <a:t>‹Nº›</a:t>
            </a:fld>
            <a:endParaRPr/>
          </a:p>
        </p:txBody>
      </p:sp>
      <p:cxnSp>
        <p:nvCxnSpPr>
          <p:cNvPr id="22" name="Google Shape;22;p28"/>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3"/>
        <p:cNvGrpSpPr/>
        <p:nvPr/>
      </p:nvGrpSpPr>
      <p:grpSpPr>
        <a:xfrm>
          <a:off x="0" y="0"/>
          <a:ext cx="0" cy="0"/>
          <a:chOff x="0" y="0"/>
          <a:chExt cx="0" cy="0"/>
        </a:xfrm>
      </p:grpSpPr>
      <p:sp>
        <p:nvSpPr>
          <p:cNvPr id="24" name="Google Shape;24;p2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9"/>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6" name="Google Shape;26;p2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Encabezado de sección" type="secHead">
  <p:cSld name="SECTION_HEADER">
    <p:bg>
      <p:bgPr>
        <a:solidFill>
          <a:schemeClr val="lt1"/>
        </a:solidFill>
        <a:effectLst/>
      </p:bgPr>
    </p:bg>
    <p:spTree>
      <p:nvGrpSpPr>
        <p:cNvPr id="1" name="Shape 29"/>
        <p:cNvGrpSpPr/>
        <p:nvPr/>
      </p:nvGrpSpPr>
      <p:grpSpPr>
        <a:xfrm>
          <a:off x="0" y="0"/>
          <a:ext cx="0" cy="0"/>
          <a:chOff x="0" y="0"/>
          <a:chExt cx="0" cy="0"/>
        </a:xfrm>
      </p:grpSpPr>
      <p:sp>
        <p:nvSpPr>
          <p:cNvPr id="30" name="Google Shape;30;p30"/>
          <p:cNvSpPr/>
          <p:nvPr/>
        </p:nvSpPr>
        <p:spPr>
          <a:xfrm>
            <a:off x="3175" y="6400800"/>
            <a:ext cx="12188825" cy="457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1" name="Google Shape;31;p30"/>
          <p:cNvSpPr/>
          <p:nvPr/>
        </p:nvSpPr>
        <p:spPr>
          <a:xfrm>
            <a:off x="15" y="6334316"/>
            <a:ext cx="12188825" cy="64008"/>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2" name="Google Shape;32;p30"/>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0"/>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34" name="Google Shape;34;p3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s-CL"/>
              <a:t>‹Nº›</a:t>
            </a:fld>
            <a:endParaRPr/>
          </a:p>
        </p:txBody>
      </p:sp>
      <p:cxnSp>
        <p:nvCxnSpPr>
          <p:cNvPr id="37" name="Google Shape;37;p30"/>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8"/>
        <p:cNvGrpSpPr/>
        <p:nvPr/>
      </p:nvGrpSpPr>
      <p:grpSpPr>
        <a:xfrm>
          <a:off x="0" y="0"/>
          <a:ext cx="0" cy="0"/>
          <a:chOff x="0" y="0"/>
          <a:chExt cx="0" cy="0"/>
        </a:xfrm>
      </p:grpSpPr>
      <p:sp>
        <p:nvSpPr>
          <p:cNvPr id="39" name="Google Shape;39;p3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31"/>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1" name="Google Shape;41;p31"/>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2" name="Google Shape;42;p3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5"/>
        <p:cNvGrpSpPr/>
        <p:nvPr/>
      </p:nvGrpSpPr>
      <p:grpSpPr>
        <a:xfrm>
          <a:off x="0" y="0"/>
          <a:ext cx="0" cy="0"/>
          <a:chOff x="0" y="0"/>
          <a:chExt cx="0" cy="0"/>
        </a:xfrm>
      </p:grpSpPr>
      <p:sp>
        <p:nvSpPr>
          <p:cNvPr id="46" name="Google Shape;46;p3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2"/>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48" name="Google Shape;48;p32"/>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9" name="Google Shape;49;p32"/>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0" name="Google Shape;50;p32"/>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1" name="Google Shape;51;p3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4"/>
        <p:cNvGrpSpPr/>
        <p:nvPr/>
      </p:nvGrpSpPr>
      <p:grpSpPr>
        <a:xfrm>
          <a:off x="0" y="0"/>
          <a:ext cx="0" cy="0"/>
          <a:chOff x="0" y="0"/>
          <a:chExt cx="0" cy="0"/>
        </a:xfrm>
      </p:grpSpPr>
      <p:sp>
        <p:nvSpPr>
          <p:cNvPr id="55" name="Google Shape;55;p3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En blanco" type="blank">
  <p:cSld name="BLANK">
    <p:spTree>
      <p:nvGrpSpPr>
        <p:cNvPr id="1" name="Shape 59"/>
        <p:cNvGrpSpPr/>
        <p:nvPr/>
      </p:nvGrpSpPr>
      <p:grpSpPr>
        <a:xfrm>
          <a:off x="0" y="0"/>
          <a:ext cx="0" cy="0"/>
          <a:chOff x="0" y="0"/>
          <a:chExt cx="0" cy="0"/>
        </a:xfrm>
      </p:grpSpPr>
      <p:sp>
        <p:nvSpPr>
          <p:cNvPr id="60" name="Google Shape;60;p34"/>
          <p:cNvSpPr/>
          <p:nvPr/>
        </p:nvSpPr>
        <p:spPr>
          <a:xfrm>
            <a:off x="3175" y="6400800"/>
            <a:ext cx="12188825" cy="457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61" name="Google Shape;61;p34"/>
          <p:cNvSpPr/>
          <p:nvPr/>
        </p:nvSpPr>
        <p:spPr>
          <a:xfrm>
            <a:off x="15" y="6334316"/>
            <a:ext cx="12188825" cy="64008"/>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62" name="Google Shape;62;p3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OBJECT_WITH_CAPTION_TEXT">
    <p:spTree>
      <p:nvGrpSpPr>
        <p:cNvPr id="1" name="Shape 65"/>
        <p:cNvGrpSpPr/>
        <p:nvPr/>
      </p:nvGrpSpPr>
      <p:grpSpPr>
        <a:xfrm>
          <a:off x="0" y="0"/>
          <a:ext cx="0" cy="0"/>
          <a:chOff x="0" y="0"/>
          <a:chExt cx="0" cy="0"/>
        </a:xfrm>
      </p:grpSpPr>
      <p:sp>
        <p:nvSpPr>
          <p:cNvPr id="66" name="Google Shape;66;p35"/>
          <p:cNvSpPr/>
          <p:nvPr/>
        </p:nvSpPr>
        <p:spPr>
          <a:xfrm>
            <a:off x="16" y="0"/>
            <a:ext cx="4050791" cy="68580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67" name="Google Shape;67;p35"/>
          <p:cNvSpPr/>
          <p:nvPr/>
        </p:nvSpPr>
        <p:spPr>
          <a:xfrm>
            <a:off x="4040071" y="0"/>
            <a:ext cx="64008" cy="6858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68" name="Google Shape;68;p35"/>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35"/>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0" name="Google Shape;70;p35"/>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1" name="Google Shape;71;p35"/>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5"/>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1pPr>
            <a:lvl2pPr marL="0" marR="0" lvl="1"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2pPr>
            <a:lvl3pPr marL="0" marR="0" lvl="2"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3pPr>
            <a:lvl4pPr marL="0" marR="0" lvl="3"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4pPr>
            <a:lvl5pPr marL="0" marR="0" lvl="4"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5pPr>
            <a:lvl6pPr marL="0" marR="0" lvl="5"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6pPr>
            <a:lvl7pPr marL="0" marR="0" lvl="6"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7pPr>
            <a:lvl8pPr marL="0" marR="0" lvl="7"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8pPr>
            <a:lvl9pPr marL="0" marR="0" lvl="8"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Imagen con título" type="picTx">
  <p:cSld name="PICTURE_WITH_CAPTION_TEXT">
    <p:spTree>
      <p:nvGrpSpPr>
        <p:cNvPr id="1" name="Shape 74"/>
        <p:cNvGrpSpPr/>
        <p:nvPr/>
      </p:nvGrpSpPr>
      <p:grpSpPr>
        <a:xfrm>
          <a:off x="0" y="0"/>
          <a:ext cx="0" cy="0"/>
          <a:chOff x="0" y="0"/>
          <a:chExt cx="0" cy="0"/>
        </a:xfrm>
      </p:grpSpPr>
      <p:sp>
        <p:nvSpPr>
          <p:cNvPr id="75" name="Google Shape;75;p36"/>
          <p:cNvSpPr/>
          <p:nvPr/>
        </p:nvSpPr>
        <p:spPr>
          <a:xfrm>
            <a:off x="0" y="4953000"/>
            <a:ext cx="12188825" cy="19050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76" name="Google Shape;76;p36"/>
          <p:cNvSpPr/>
          <p:nvPr/>
        </p:nvSpPr>
        <p:spPr>
          <a:xfrm>
            <a:off x="15" y="4915076"/>
            <a:ext cx="12188825" cy="64008"/>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77" name="Google Shape;77;p36"/>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8" name="Google Shape;78;p36"/>
          <p:cNvPicPr preferRelativeResize="0">
            <a:picLocks noGrp="1"/>
          </p:cNvPicPr>
          <p:nvPr>
            <p:ph type="pic" idx="2"/>
          </p:nvPr>
        </p:nvPicPr>
        <p:blipFill/>
        <p:spPr>
          <a:xfrm>
            <a:off x="15" y="0"/>
            <a:ext cx="12191985" cy="4915076"/>
          </a:xfrm>
          <a:prstGeom prst="rect">
            <a:avLst/>
          </a:prstGeom>
          <a:blipFill rotWithShape="1">
            <a:blip r:embed="rId2">
              <a:alphaModFix/>
            </a:blip>
            <a:stretch>
              <a:fillRect/>
            </a:stretch>
          </a:blipFill>
          <a:ln>
            <a:noFill/>
          </a:ln>
        </p:spPr>
      </p:pic>
      <p:sp>
        <p:nvSpPr>
          <p:cNvPr id="79" name="Google Shape;79;p36"/>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0" name="Google Shape;80;p3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3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3"/>
        <p:cNvGrpSpPr/>
        <p:nvPr/>
      </p:nvGrpSpPr>
      <p:grpSpPr>
        <a:xfrm>
          <a:off x="0" y="0"/>
          <a:ext cx="0" cy="0"/>
          <a:chOff x="0" y="0"/>
          <a:chExt cx="0" cy="0"/>
        </a:xfrm>
      </p:grpSpPr>
      <p:sp>
        <p:nvSpPr>
          <p:cNvPr id="84" name="Google Shape;84;p3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37"/>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6" name="Google Shape;86;p3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3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3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38"/>
          <p:cNvSpPr/>
          <p:nvPr/>
        </p:nvSpPr>
        <p:spPr>
          <a:xfrm>
            <a:off x="3175" y="6400800"/>
            <a:ext cx="12188825" cy="457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91" name="Google Shape;91;p38"/>
          <p:cNvSpPr/>
          <p:nvPr/>
        </p:nvSpPr>
        <p:spPr>
          <a:xfrm>
            <a:off x="15" y="6334316"/>
            <a:ext cx="12188825" cy="64008"/>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92" name="Google Shape;92;p38"/>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38"/>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4" name="Google Shape;94;p3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3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7"/>
        <p:cNvGrpSpPr/>
        <p:nvPr/>
      </p:nvGrpSpPr>
      <p:grpSpPr>
        <a:xfrm>
          <a:off x="0" y="0"/>
          <a:ext cx="0" cy="0"/>
          <a:chOff x="0" y="0"/>
          <a:chExt cx="0" cy="0"/>
        </a:xfrm>
      </p:grpSpPr>
      <p:grpSp>
        <p:nvGrpSpPr>
          <p:cNvPr id="98" name="Google Shape;98;g3adb49ca0c1_4_132"/>
          <p:cNvGrpSpPr/>
          <p:nvPr/>
        </p:nvGrpSpPr>
        <p:grpSpPr>
          <a:xfrm>
            <a:off x="0" y="507989"/>
            <a:ext cx="1383765" cy="1355016"/>
            <a:chOff x="0" y="381001"/>
            <a:chExt cx="1037850" cy="1016287"/>
          </a:xfrm>
        </p:grpSpPr>
        <p:sp>
          <p:nvSpPr>
            <p:cNvPr id="99" name="Google Shape;99;g3adb49ca0c1_4_132"/>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00" name="Google Shape;100;g3adb49ca0c1_4_132"/>
            <p:cNvSpPr/>
            <p:nvPr/>
          </p:nvSpPr>
          <p:spPr>
            <a:xfrm flipH="1">
              <a:off x="229050" y="588489"/>
              <a:ext cx="808800" cy="808800"/>
            </a:xfrm>
            <a:prstGeom prst="diagStripe">
              <a:avLst>
                <a:gd name="adj" fmla="val 50000"/>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101" name="Google Shape;101;g3adb49ca0c1_4_132"/>
          <p:cNvSpPr txBox="1">
            <a:spLocks noGrp="1"/>
          </p:cNvSpPr>
          <p:nvPr>
            <p:ph type="title"/>
          </p:nvPr>
        </p:nvSpPr>
        <p:spPr>
          <a:xfrm>
            <a:off x="1730000" y="525000"/>
            <a:ext cx="9385200" cy="1218900"/>
          </a:xfrm>
          <a:prstGeom prst="rect">
            <a:avLst/>
          </a:prstGeom>
        </p:spPr>
        <p:txBody>
          <a:bodyPr spcFirstLastPara="1" wrap="square" lIns="91425" tIns="45700" rIns="91425" bIns="457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102" name="Google Shape;102;g3adb49ca0c1_4_132"/>
          <p:cNvSpPr txBox="1">
            <a:spLocks noGrp="1"/>
          </p:cNvSpPr>
          <p:nvPr>
            <p:ph type="body" idx="1"/>
          </p:nvPr>
        </p:nvSpPr>
        <p:spPr>
          <a:xfrm>
            <a:off x="1730000" y="2090067"/>
            <a:ext cx="9385200" cy="3881700"/>
          </a:xfrm>
          <a:prstGeom prst="rect">
            <a:avLst/>
          </a:prstGeom>
        </p:spPr>
        <p:txBody>
          <a:bodyPr spcFirstLastPara="1" wrap="square" lIns="0" tIns="45700" rIns="0" bIns="45700" anchor="t" anchorCtr="0">
            <a:normAutofit/>
          </a:bodyPr>
          <a:lstStyle>
            <a:lvl1pPr marL="457200" lvl="0" indent="-355600">
              <a:spcBef>
                <a:spcPts val="1200"/>
              </a:spcBef>
              <a:spcAft>
                <a:spcPts val="0"/>
              </a:spcAft>
              <a:buSzPts val="2000"/>
              <a:buChar char=" "/>
              <a:defRPr/>
            </a:lvl1pPr>
            <a:lvl2pPr marL="914400" lvl="1" indent="-342900">
              <a:spcBef>
                <a:spcPts val="200"/>
              </a:spcBef>
              <a:spcAft>
                <a:spcPts val="0"/>
              </a:spcAft>
              <a:buSzPts val="1800"/>
              <a:buChar char="◦"/>
              <a:defRPr/>
            </a:lvl2pPr>
            <a:lvl3pPr marL="1371600" lvl="2" indent="-317500">
              <a:spcBef>
                <a:spcPts val="400"/>
              </a:spcBef>
              <a:spcAft>
                <a:spcPts val="0"/>
              </a:spcAft>
              <a:buSzPts val="1400"/>
              <a:buChar char="◦"/>
              <a:defRPr/>
            </a:lvl3pPr>
            <a:lvl4pPr marL="1828800" lvl="3" indent="-317500">
              <a:spcBef>
                <a:spcPts val="400"/>
              </a:spcBef>
              <a:spcAft>
                <a:spcPts val="0"/>
              </a:spcAft>
              <a:buSzPts val="1400"/>
              <a:buChar char="◦"/>
              <a:defRPr/>
            </a:lvl4pPr>
            <a:lvl5pPr marL="2286000" lvl="4" indent="-317500">
              <a:spcBef>
                <a:spcPts val="400"/>
              </a:spcBef>
              <a:spcAft>
                <a:spcPts val="0"/>
              </a:spcAft>
              <a:buSzPts val="1400"/>
              <a:buChar char="◦"/>
              <a:defRPr/>
            </a:lvl5pPr>
            <a:lvl6pPr marL="2743200" lvl="5" indent="-317500">
              <a:spcBef>
                <a:spcPts val="400"/>
              </a:spcBef>
              <a:spcAft>
                <a:spcPts val="0"/>
              </a:spcAft>
              <a:buSzPts val="1400"/>
              <a:buChar char="◦"/>
              <a:defRPr/>
            </a:lvl6pPr>
            <a:lvl7pPr marL="3200400" lvl="6" indent="-317500">
              <a:spcBef>
                <a:spcPts val="400"/>
              </a:spcBef>
              <a:spcAft>
                <a:spcPts val="0"/>
              </a:spcAft>
              <a:buSzPts val="1400"/>
              <a:buChar char="◦"/>
              <a:defRPr/>
            </a:lvl7pPr>
            <a:lvl8pPr marL="3657600" lvl="7" indent="-317500">
              <a:spcBef>
                <a:spcPts val="400"/>
              </a:spcBef>
              <a:spcAft>
                <a:spcPts val="0"/>
              </a:spcAft>
              <a:buSzPts val="1400"/>
              <a:buChar char="◦"/>
              <a:defRPr/>
            </a:lvl8pPr>
            <a:lvl9pPr marL="4114800" lvl="8" indent="-317500">
              <a:spcBef>
                <a:spcPts val="400"/>
              </a:spcBef>
              <a:spcAft>
                <a:spcPts val="400"/>
              </a:spcAft>
              <a:buSzPts val="1400"/>
              <a:buChar char="◦"/>
              <a:defRPr/>
            </a:lvl9pPr>
          </a:lstStyle>
          <a:p>
            <a:endParaRPr/>
          </a:p>
        </p:txBody>
      </p:sp>
      <p:sp>
        <p:nvSpPr>
          <p:cNvPr id="103" name="Google Shape;103;g3adb49ca0c1_4_132"/>
          <p:cNvSpPr txBox="1">
            <a:spLocks noGrp="1"/>
          </p:cNvSpPr>
          <p:nvPr>
            <p:ph type="sldNum" idx="12"/>
          </p:nvPr>
        </p:nvSpPr>
        <p:spPr>
          <a:xfrm>
            <a:off x="11296610" y="6217622"/>
            <a:ext cx="731700" cy="5247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p:nvPr/>
        </p:nvSpPr>
        <p:spPr>
          <a:xfrm>
            <a:off x="1" y="6400800"/>
            <a:ext cx="12192000" cy="457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7" name="Google Shape;7;p8"/>
          <p:cNvSpPr/>
          <p:nvPr/>
        </p:nvSpPr>
        <p:spPr>
          <a:xfrm>
            <a:off x="0" y="6334316"/>
            <a:ext cx="12192001" cy="65998"/>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8" name="Google Shape;8;p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8"/>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0" name="Google Shape;10;p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1pPr>
            <a:lvl2pPr marL="0" marR="0" lvl="1"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2pPr>
            <a:lvl3pPr marL="0" marR="0" lvl="2"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3pPr>
            <a:lvl4pPr marL="0" marR="0" lvl="3"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4pPr>
            <a:lvl5pPr marL="0" marR="0" lvl="4"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5pPr>
            <a:lvl6pPr marL="0" marR="0" lvl="5"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6pPr>
            <a:lvl7pPr marL="0" marR="0" lvl="6"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7pPr>
            <a:lvl8pPr marL="0" marR="0" lvl="7"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8pPr>
            <a:lvl9pPr marL="0" marR="0" lvl="8"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cxnSp>
        <p:nvCxnSpPr>
          <p:cNvPr id="13" name="Google Shape;13;p8"/>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
        <p:cNvGrpSpPr/>
        <p:nvPr/>
      </p:nvGrpSpPr>
      <p:grpSpPr>
        <a:xfrm>
          <a:off x="0" y="0"/>
          <a:ext cx="0" cy="0"/>
          <a:chOff x="0" y="0"/>
          <a:chExt cx="0" cy="0"/>
        </a:xfrm>
      </p:grpSpPr>
      <p:sp>
        <p:nvSpPr>
          <p:cNvPr id="108" name="Google Shape;108;p1"/>
          <p:cNvSpPr txBox="1"/>
          <p:nvPr/>
        </p:nvSpPr>
        <p:spPr>
          <a:xfrm>
            <a:off x="836253" y="5538152"/>
            <a:ext cx="10058400" cy="82296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None/>
            </a:pPr>
            <a:r>
              <a:rPr lang="es-CL" sz="1800" b="0" i="0" u="none" strike="noStrike" cap="none">
                <a:solidFill>
                  <a:schemeClr val="dk1"/>
                </a:solidFill>
                <a:latin typeface="Calibri"/>
                <a:ea typeface="Calibri"/>
                <a:cs typeface="Calibri"/>
                <a:sym typeface="Calibri"/>
              </a:rPr>
              <a:t>PROYECTO “</a:t>
            </a:r>
            <a:r>
              <a:rPr lang="es-CL" sz="1800">
                <a:solidFill>
                  <a:schemeClr val="dk1"/>
                </a:solidFill>
                <a:latin typeface="Calibri"/>
                <a:ea typeface="Calibri"/>
                <a:cs typeface="Calibri"/>
                <a:sym typeface="Calibri"/>
              </a:rPr>
              <a:t>ConectaPyme</a:t>
            </a:r>
            <a:r>
              <a:rPr lang="es-CL" sz="1800" b="0" i="0" u="none" strike="noStrike" cap="none">
                <a:solidFill>
                  <a:schemeClr val="dk1"/>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a:p>
            <a:pPr marL="0" marR="0" lvl="0" indent="0" algn="l" rtl="0">
              <a:lnSpc>
                <a:spcPct val="85000"/>
              </a:lnSpc>
              <a:spcBef>
                <a:spcPts val="600"/>
              </a:spcBef>
              <a:spcAft>
                <a:spcPts val="0"/>
              </a:spcAft>
              <a:buNone/>
            </a:pPr>
            <a:r>
              <a:rPr lang="es-CL" sz="1800" b="0" i="0" u="none" strike="noStrike" cap="none">
                <a:solidFill>
                  <a:schemeClr val="dk1"/>
                </a:solidFill>
                <a:latin typeface="Calibri"/>
                <a:ea typeface="Calibri"/>
                <a:cs typeface="Calibri"/>
                <a:sym typeface="Calibri"/>
              </a:rPr>
              <a:t>PRESENTACIÓN FINAL CAPSTONE</a:t>
            </a:r>
            <a:endParaRPr/>
          </a:p>
          <a:p>
            <a:pPr marL="0" marR="0" lvl="0" indent="0" algn="l" rtl="0">
              <a:lnSpc>
                <a:spcPct val="85000"/>
              </a:lnSpc>
              <a:spcBef>
                <a:spcPts val="600"/>
              </a:spcBef>
              <a:spcAft>
                <a:spcPts val="600"/>
              </a:spcAft>
              <a:buNone/>
            </a:pPr>
            <a:r>
              <a:rPr lang="es-CL" sz="1800" b="0" i="0" u="none" strike="noStrike" cap="none">
                <a:solidFill>
                  <a:schemeClr val="dk1"/>
                </a:solidFill>
                <a:latin typeface="Calibri"/>
                <a:ea typeface="Calibri"/>
                <a:cs typeface="Calibri"/>
                <a:sym typeface="Calibri"/>
              </a:rPr>
              <a:t>Profesor: Jorge Guzmán`</a:t>
            </a:r>
            <a:endParaRPr/>
          </a:p>
        </p:txBody>
      </p:sp>
      <p:pic>
        <p:nvPicPr>
          <p:cNvPr id="109" name="Google Shape;109;p1" descr="EscuelaIT Duoc UC - Escuela de Informática y Telecomunicaciones Duoc UC - Duoc  UC | LinkedIn"/>
          <p:cNvPicPr preferRelativeResize="0"/>
          <p:nvPr/>
        </p:nvPicPr>
        <p:blipFill rotWithShape="1">
          <a:blip r:embed="rId3">
            <a:alphaModFix/>
          </a:blip>
          <a:srcRect/>
          <a:stretch/>
        </p:blipFill>
        <p:spPr>
          <a:xfrm>
            <a:off x="635457" y="1799991"/>
            <a:ext cx="5131653" cy="1282913"/>
          </a:xfrm>
          <a:prstGeom prst="rect">
            <a:avLst/>
          </a:prstGeom>
          <a:noFill/>
          <a:ln>
            <a:noFill/>
          </a:ln>
        </p:spPr>
      </p:pic>
      <p:pic>
        <p:nvPicPr>
          <p:cNvPr id="110" name="Google Shape;110;p1" title="unnamed.png"/>
          <p:cNvPicPr preferRelativeResize="0"/>
          <p:nvPr/>
        </p:nvPicPr>
        <p:blipFill rotWithShape="1">
          <a:blip r:embed="rId4">
            <a:alphaModFix/>
          </a:blip>
          <a:srcRect/>
          <a:stretch/>
        </p:blipFill>
        <p:spPr>
          <a:xfrm>
            <a:off x="6424891" y="733255"/>
            <a:ext cx="5118182" cy="3416386"/>
          </a:xfrm>
          <a:prstGeom prst="rect">
            <a:avLst/>
          </a:prstGeom>
          <a:noFill/>
          <a:ln>
            <a:noFill/>
          </a:ln>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2"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grpSp>
        <p:nvGrpSpPr>
          <p:cNvPr id="116" name="Google Shape;116;p2"/>
          <p:cNvGrpSpPr/>
          <p:nvPr/>
        </p:nvGrpSpPr>
        <p:grpSpPr>
          <a:xfrm>
            <a:off x="4121026" y="1710819"/>
            <a:ext cx="7633494" cy="4350553"/>
            <a:chOff x="0" y="0"/>
            <a:chExt cx="7633494" cy="4350553"/>
          </a:xfrm>
        </p:grpSpPr>
        <p:sp>
          <p:nvSpPr>
            <p:cNvPr id="117" name="Google Shape;117;p2"/>
            <p:cNvSpPr/>
            <p:nvPr/>
          </p:nvSpPr>
          <p:spPr>
            <a:xfrm>
              <a:off x="0" y="0"/>
              <a:ext cx="7633494" cy="1359548"/>
            </a:xfrm>
            <a:prstGeom prst="roundRect">
              <a:avLst>
                <a:gd name="adj" fmla="val 10000"/>
              </a:avLst>
            </a:prstGeom>
            <a:gradFill>
              <a:gsLst>
                <a:gs pos="0">
                  <a:srgbClr val="6EA5DA"/>
                </a:gs>
                <a:gs pos="50000">
                  <a:srgbClr val="529BDA"/>
                </a:gs>
                <a:gs pos="100000">
                  <a:srgbClr val="4188C8"/>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2"/>
            <p:cNvSpPr txBox="1"/>
            <p:nvPr/>
          </p:nvSpPr>
          <p:spPr>
            <a:xfrm>
              <a:off x="1662653" y="0"/>
              <a:ext cx="5970840" cy="1359548"/>
            </a:xfrm>
            <a:prstGeom prst="rect">
              <a:avLst/>
            </a:prstGeom>
            <a:noFill/>
            <a:ln>
              <a:noFill/>
            </a:ln>
          </p:spPr>
          <p:txBody>
            <a:bodyPr spcFirstLastPara="1" wrap="square" lIns="99050" tIns="99050" rIns="99050" bIns="99050" anchor="t" anchorCtr="0">
              <a:noAutofit/>
            </a:bodyPr>
            <a:lstStyle/>
            <a:p>
              <a:pPr marL="0" marR="0" lvl="0" indent="0" algn="l" rtl="0">
                <a:lnSpc>
                  <a:spcPct val="90000"/>
                </a:lnSpc>
                <a:spcBef>
                  <a:spcPts val="0"/>
                </a:spcBef>
                <a:spcAft>
                  <a:spcPts val="0"/>
                </a:spcAft>
                <a:buClr>
                  <a:schemeClr val="lt1"/>
                </a:buClr>
                <a:buSzPts val="2600"/>
                <a:buFont typeface="Calibri"/>
                <a:buNone/>
              </a:pPr>
              <a:r>
                <a:rPr lang="es-CL" sz="1700">
                  <a:solidFill>
                    <a:schemeClr val="lt1"/>
                  </a:solidFill>
                  <a:latin typeface="Calibri"/>
                  <a:ea typeface="Calibri"/>
                  <a:cs typeface="Calibri"/>
                  <a:sym typeface="Calibri"/>
                </a:rPr>
                <a:t>Matías Lemus</a:t>
              </a:r>
              <a:endParaRPr sz="1700" i="0" u="none" strike="noStrike" cap="none">
                <a:solidFill>
                  <a:schemeClr val="lt1"/>
                </a:solidFill>
                <a:latin typeface="Calibri"/>
                <a:ea typeface="Calibri"/>
                <a:cs typeface="Calibri"/>
                <a:sym typeface="Calibri"/>
              </a:endParaRPr>
            </a:p>
            <a:p>
              <a:pPr marL="228600" marR="0" lvl="1" indent="-209550" algn="l" rtl="0">
                <a:lnSpc>
                  <a:spcPct val="90000"/>
                </a:lnSpc>
                <a:spcBef>
                  <a:spcPts val="910"/>
                </a:spcBef>
                <a:spcAft>
                  <a:spcPts val="0"/>
                </a:spcAft>
                <a:buClr>
                  <a:schemeClr val="lt1"/>
                </a:buClr>
                <a:buSzPts val="1700"/>
                <a:buFont typeface="Calibri"/>
                <a:buChar char="•"/>
              </a:pPr>
              <a:r>
                <a:rPr lang="es-CL" sz="1700" b="0" i="0" u="none" strike="noStrike" cap="none">
                  <a:solidFill>
                    <a:schemeClr val="lt1"/>
                  </a:solidFill>
                  <a:latin typeface="Calibri"/>
                  <a:ea typeface="Calibri"/>
                  <a:cs typeface="Calibri"/>
                  <a:sym typeface="Calibri"/>
                </a:rPr>
                <a:t>Product Owner</a:t>
              </a:r>
              <a:endParaRPr sz="1700" b="0" i="0" u="none" strike="noStrike" cap="none">
                <a:solidFill>
                  <a:schemeClr val="lt1"/>
                </a:solidFill>
                <a:latin typeface="Calibri"/>
                <a:ea typeface="Calibri"/>
                <a:cs typeface="Calibri"/>
                <a:sym typeface="Calibri"/>
              </a:endParaRPr>
            </a:p>
            <a:p>
              <a:pPr marL="228600" marR="0" lvl="1" indent="-209550" algn="l" rtl="0">
                <a:lnSpc>
                  <a:spcPct val="90000"/>
                </a:lnSpc>
                <a:spcBef>
                  <a:spcPts val="300"/>
                </a:spcBef>
                <a:spcAft>
                  <a:spcPts val="0"/>
                </a:spcAft>
                <a:buClr>
                  <a:schemeClr val="lt1"/>
                </a:buClr>
                <a:buSzPts val="1700"/>
                <a:buFont typeface="Calibri"/>
                <a:buChar char="•"/>
              </a:pPr>
              <a:r>
                <a:rPr lang="es-CL" sz="1700" b="0" i="0" u="none" strike="noStrike" cap="none">
                  <a:solidFill>
                    <a:schemeClr val="lt1"/>
                  </a:solidFill>
                  <a:latin typeface="Calibri"/>
                  <a:ea typeface="Calibri"/>
                  <a:cs typeface="Calibri"/>
                  <a:sym typeface="Calibri"/>
                </a:rPr>
                <a:t>Define la visión del proyecto, </a:t>
              </a:r>
              <a:r>
                <a:rPr lang="es-CL" sz="1700">
                  <a:solidFill>
                    <a:schemeClr val="lt1"/>
                  </a:solidFill>
                  <a:latin typeface="Calibri"/>
                  <a:ea typeface="Calibri"/>
                  <a:cs typeface="Calibri"/>
                  <a:sym typeface="Calibri"/>
                </a:rPr>
                <a:t>a</a:t>
              </a:r>
              <a:r>
                <a:rPr lang="es-CL" sz="1700" b="0" i="0" u="none" strike="noStrike" cap="none">
                  <a:solidFill>
                    <a:schemeClr val="lt1"/>
                  </a:solidFill>
                  <a:latin typeface="Calibri"/>
                  <a:ea typeface="Calibri"/>
                  <a:cs typeface="Calibri"/>
                  <a:sym typeface="Calibri"/>
                </a:rPr>
                <a:t>segura que el equipo desarrolle lo que el usuario necesita</a:t>
              </a:r>
              <a:endParaRPr sz="1700" b="0" i="0" u="none" strike="noStrike" cap="none">
                <a:solidFill>
                  <a:schemeClr val="lt1"/>
                </a:solidFill>
                <a:latin typeface="Calibri"/>
                <a:ea typeface="Calibri"/>
                <a:cs typeface="Calibri"/>
                <a:sym typeface="Calibri"/>
              </a:endParaRPr>
            </a:p>
          </p:txBody>
        </p:sp>
        <p:sp>
          <p:nvSpPr>
            <p:cNvPr id="119" name="Google Shape;119;p2"/>
            <p:cNvSpPr/>
            <p:nvPr/>
          </p:nvSpPr>
          <p:spPr>
            <a:xfrm>
              <a:off x="135954" y="135954"/>
              <a:ext cx="1526698" cy="1087638"/>
            </a:xfrm>
            <a:prstGeom prst="roundRect">
              <a:avLst>
                <a:gd name="adj" fmla="val 10000"/>
              </a:avLst>
            </a:prstGeom>
            <a:solidFill>
              <a:srgbClr val="C3D4EB"/>
            </a:soli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2"/>
            <p:cNvSpPr/>
            <p:nvPr/>
          </p:nvSpPr>
          <p:spPr>
            <a:xfrm>
              <a:off x="0" y="1495502"/>
              <a:ext cx="7633494" cy="1359548"/>
            </a:xfrm>
            <a:prstGeom prst="roundRect">
              <a:avLst>
                <a:gd name="adj" fmla="val 10000"/>
              </a:avLst>
            </a:prstGeom>
            <a:gradFill>
              <a:gsLst>
                <a:gs pos="0">
                  <a:srgbClr val="6EA5DA"/>
                </a:gs>
                <a:gs pos="50000">
                  <a:srgbClr val="529BDA"/>
                </a:gs>
                <a:gs pos="100000">
                  <a:srgbClr val="4188C8"/>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2"/>
            <p:cNvSpPr txBox="1"/>
            <p:nvPr/>
          </p:nvSpPr>
          <p:spPr>
            <a:xfrm>
              <a:off x="1662653" y="1495502"/>
              <a:ext cx="5970840" cy="1359548"/>
            </a:xfrm>
            <a:prstGeom prst="rect">
              <a:avLst/>
            </a:prstGeom>
            <a:noFill/>
            <a:ln>
              <a:noFill/>
            </a:ln>
          </p:spPr>
          <p:txBody>
            <a:bodyPr spcFirstLastPara="1" wrap="square" lIns="99050" tIns="99050" rIns="99050" bIns="99050" anchor="t" anchorCtr="0">
              <a:noAutofit/>
            </a:bodyPr>
            <a:lstStyle/>
            <a:p>
              <a:pPr marL="0" marR="0" lvl="0" indent="0" algn="l" rtl="0">
                <a:lnSpc>
                  <a:spcPct val="90000"/>
                </a:lnSpc>
                <a:spcBef>
                  <a:spcPts val="0"/>
                </a:spcBef>
                <a:spcAft>
                  <a:spcPts val="0"/>
                </a:spcAft>
                <a:buClr>
                  <a:schemeClr val="lt1"/>
                </a:buClr>
                <a:buSzPts val="2600"/>
                <a:buFont typeface="Calibri"/>
                <a:buNone/>
              </a:pPr>
              <a:r>
                <a:rPr lang="es-CL" sz="1700">
                  <a:solidFill>
                    <a:schemeClr val="lt1"/>
                  </a:solidFill>
                  <a:latin typeface="Calibri"/>
                  <a:ea typeface="Calibri"/>
                  <a:cs typeface="Calibri"/>
                  <a:sym typeface="Calibri"/>
                </a:rPr>
                <a:t>Leonardo Jara</a:t>
              </a:r>
              <a:endParaRPr sz="1700" i="0" u="none" strike="noStrike" cap="none">
                <a:solidFill>
                  <a:schemeClr val="lt1"/>
                </a:solidFill>
                <a:latin typeface="Calibri"/>
                <a:ea typeface="Calibri"/>
                <a:cs typeface="Calibri"/>
                <a:sym typeface="Calibri"/>
              </a:endParaRPr>
            </a:p>
            <a:p>
              <a:pPr marL="228600" marR="0" lvl="1" indent="-209550" algn="l" rtl="0">
                <a:lnSpc>
                  <a:spcPct val="90000"/>
                </a:lnSpc>
                <a:spcBef>
                  <a:spcPts val="910"/>
                </a:spcBef>
                <a:spcAft>
                  <a:spcPts val="0"/>
                </a:spcAft>
                <a:buClr>
                  <a:schemeClr val="lt1"/>
                </a:buClr>
                <a:buSzPts val="1700"/>
                <a:buFont typeface="Calibri"/>
                <a:buChar char="•"/>
              </a:pPr>
              <a:r>
                <a:rPr lang="es-CL" sz="1700" b="0" i="0" u="none" strike="noStrike" cap="none">
                  <a:solidFill>
                    <a:schemeClr val="lt1"/>
                  </a:solidFill>
                  <a:latin typeface="Calibri"/>
                  <a:ea typeface="Calibri"/>
                  <a:cs typeface="Calibri"/>
                  <a:sym typeface="Calibri"/>
                </a:rPr>
                <a:t>Developer</a:t>
              </a:r>
              <a:endParaRPr sz="1700" b="0" i="0" u="none" strike="noStrike" cap="none">
                <a:solidFill>
                  <a:schemeClr val="lt1"/>
                </a:solidFill>
                <a:latin typeface="Calibri"/>
                <a:ea typeface="Calibri"/>
                <a:cs typeface="Calibri"/>
                <a:sym typeface="Calibri"/>
              </a:endParaRPr>
            </a:p>
            <a:p>
              <a:pPr marL="228600" marR="0" lvl="1" indent="-209550" algn="l" rtl="0">
                <a:lnSpc>
                  <a:spcPct val="90000"/>
                </a:lnSpc>
                <a:spcBef>
                  <a:spcPts val="300"/>
                </a:spcBef>
                <a:spcAft>
                  <a:spcPts val="0"/>
                </a:spcAft>
                <a:buClr>
                  <a:schemeClr val="lt1"/>
                </a:buClr>
                <a:buSzPts val="1700"/>
                <a:buFont typeface="Calibri"/>
                <a:buChar char="•"/>
              </a:pPr>
              <a:r>
                <a:rPr lang="es-CL" sz="1700" b="0" i="0" u="none" strike="noStrike" cap="none">
                  <a:solidFill>
                    <a:schemeClr val="lt1"/>
                  </a:solidFill>
                  <a:latin typeface="Calibri"/>
                  <a:ea typeface="Calibri"/>
                  <a:cs typeface="Calibri"/>
                  <a:sym typeface="Calibri"/>
                </a:rPr>
                <a:t>Desarrolla las funcionalidades del sistema, corrige errores</a:t>
              </a:r>
              <a:endParaRPr sz="1700" b="0" i="0" u="none" strike="noStrike" cap="none">
                <a:solidFill>
                  <a:schemeClr val="lt1"/>
                </a:solidFill>
                <a:latin typeface="Calibri"/>
                <a:ea typeface="Calibri"/>
                <a:cs typeface="Calibri"/>
                <a:sym typeface="Calibri"/>
              </a:endParaRPr>
            </a:p>
          </p:txBody>
        </p:sp>
        <p:sp>
          <p:nvSpPr>
            <p:cNvPr id="122" name="Google Shape;122;p2"/>
            <p:cNvSpPr/>
            <p:nvPr/>
          </p:nvSpPr>
          <p:spPr>
            <a:xfrm>
              <a:off x="135954" y="1631457"/>
              <a:ext cx="1526698" cy="1087638"/>
            </a:xfrm>
            <a:prstGeom prst="roundRect">
              <a:avLst>
                <a:gd name="adj" fmla="val 10000"/>
              </a:avLst>
            </a:prstGeom>
            <a:solidFill>
              <a:srgbClr val="C3D4EB"/>
            </a:soli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2"/>
            <p:cNvSpPr/>
            <p:nvPr/>
          </p:nvSpPr>
          <p:spPr>
            <a:xfrm>
              <a:off x="0" y="2991005"/>
              <a:ext cx="7633494" cy="1359548"/>
            </a:xfrm>
            <a:prstGeom prst="roundRect">
              <a:avLst>
                <a:gd name="adj" fmla="val 10000"/>
              </a:avLst>
            </a:prstGeom>
            <a:gradFill>
              <a:gsLst>
                <a:gs pos="0">
                  <a:srgbClr val="6EA5DA"/>
                </a:gs>
                <a:gs pos="50000">
                  <a:srgbClr val="529BDA"/>
                </a:gs>
                <a:gs pos="100000">
                  <a:srgbClr val="4188C8"/>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2"/>
            <p:cNvSpPr txBox="1"/>
            <p:nvPr/>
          </p:nvSpPr>
          <p:spPr>
            <a:xfrm>
              <a:off x="1662653" y="2991005"/>
              <a:ext cx="5970840" cy="1359548"/>
            </a:xfrm>
            <a:prstGeom prst="rect">
              <a:avLst/>
            </a:prstGeom>
            <a:noFill/>
            <a:ln>
              <a:noFill/>
            </a:ln>
          </p:spPr>
          <p:txBody>
            <a:bodyPr spcFirstLastPara="1" wrap="square" lIns="99050" tIns="99050" rIns="99050" bIns="99050" anchor="t" anchorCtr="0">
              <a:noAutofit/>
            </a:bodyPr>
            <a:lstStyle/>
            <a:p>
              <a:pPr marL="0" marR="0" lvl="0" indent="0" algn="l" rtl="0">
                <a:lnSpc>
                  <a:spcPct val="90000"/>
                </a:lnSpc>
                <a:spcBef>
                  <a:spcPts val="0"/>
                </a:spcBef>
                <a:spcAft>
                  <a:spcPts val="0"/>
                </a:spcAft>
                <a:buClr>
                  <a:schemeClr val="lt1"/>
                </a:buClr>
                <a:buSzPts val="2600"/>
                <a:buFont typeface="Calibri"/>
                <a:buNone/>
              </a:pPr>
              <a:r>
                <a:rPr lang="es-CL" sz="1700">
                  <a:solidFill>
                    <a:schemeClr val="lt1"/>
                  </a:solidFill>
                  <a:latin typeface="Calibri"/>
                  <a:ea typeface="Calibri"/>
                  <a:cs typeface="Calibri"/>
                  <a:sym typeface="Calibri"/>
                </a:rPr>
                <a:t>Esteban González</a:t>
              </a:r>
              <a:endParaRPr sz="1700" i="0" u="none" strike="noStrike" cap="none">
                <a:solidFill>
                  <a:schemeClr val="lt1"/>
                </a:solidFill>
                <a:latin typeface="Calibri"/>
                <a:ea typeface="Calibri"/>
                <a:cs typeface="Calibri"/>
                <a:sym typeface="Calibri"/>
              </a:endParaRPr>
            </a:p>
            <a:p>
              <a:pPr marL="228600" marR="0" lvl="1" indent="-209550" algn="l" rtl="0">
                <a:lnSpc>
                  <a:spcPct val="90000"/>
                </a:lnSpc>
                <a:spcBef>
                  <a:spcPts val="910"/>
                </a:spcBef>
                <a:spcAft>
                  <a:spcPts val="0"/>
                </a:spcAft>
                <a:buClr>
                  <a:schemeClr val="lt1"/>
                </a:buClr>
                <a:buSzPts val="1700"/>
                <a:buFont typeface="Calibri"/>
                <a:buChar char="•"/>
              </a:pPr>
              <a:r>
                <a:rPr lang="es-CL" sz="1700" b="0" i="0" u="none" strike="noStrike" cap="none">
                  <a:solidFill>
                    <a:schemeClr val="lt1"/>
                  </a:solidFill>
                  <a:latin typeface="Calibri"/>
                  <a:ea typeface="Calibri"/>
                  <a:cs typeface="Calibri"/>
                  <a:sym typeface="Calibri"/>
                </a:rPr>
                <a:t>Scrum Master</a:t>
              </a:r>
              <a:endParaRPr sz="1700" b="0" i="0" u="none" strike="noStrike" cap="none">
                <a:solidFill>
                  <a:schemeClr val="lt1"/>
                </a:solidFill>
                <a:latin typeface="Calibri"/>
                <a:ea typeface="Calibri"/>
                <a:cs typeface="Calibri"/>
                <a:sym typeface="Calibri"/>
              </a:endParaRPr>
            </a:p>
            <a:p>
              <a:pPr marL="228600" marR="0" lvl="1" indent="-209550" algn="l" rtl="0">
                <a:lnSpc>
                  <a:spcPct val="90000"/>
                </a:lnSpc>
                <a:spcBef>
                  <a:spcPts val="300"/>
                </a:spcBef>
                <a:spcAft>
                  <a:spcPts val="0"/>
                </a:spcAft>
                <a:buClr>
                  <a:schemeClr val="lt1"/>
                </a:buClr>
                <a:buSzPts val="1700"/>
                <a:buFont typeface="Calibri"/>
                <a:buChar char="•"/>
              </a:pPr>
              <a:r>
                <a:rPr lang="es-CL" sz="1700" b="0" i="0" u="none" strike="noStrike" cap="none">
                  <a:solidFill>
                    <a:schemeClr val="lt1"/>
                  </a:solidFill>
                  <a:latin typeface="Calibri"/>
                  <a:ea typeface="Calibri"/>
                  <a:cs typeface="Calibri"/>
                  <a:sym typeface="Calibri"/>
                </a:rPr>
                <a:t>Organiza las reuniones del equipo, ayuda al equipo a eliminar impedimentos</a:t>
              </a:r>
              <a:endParaRPr sz="1700" b="0" i="0" u="none" strike="noStrike" cap="none">
                <a:solidFill>
                  <a:schemeClr val="lt1"/>
                </a:solidFill>
                <a:latin typeface="Calibri"/>
                <a:ea typeface="Calibri"/>
                <a:cs typeface="Calibri"/>
                <a:sym typeface="Calibri"/>
              </a:endParaRPr>
            </a:p>
          </p:txBody>
        </p:sp>
        <p:sp>
          <p:nvSpPr>
            <p:cNvPr id="125" name="Google Shape;125;p2"/>
            <p:cNvSpPr/>
            <p:nvPr/>
          </p:nvSpPr>
          <p:spPr>
            <a:xfrm>
              <a:off x="135954" y="3126960"/>
              <a:ext cx="1526698" cy="1087638"/>
            </a:xfrm>
            <a:prstGeom prst="roundRect">
              <a:avLst>
                <a:gd name="adj" fmla="val 10000"/>
              </a:avLst>
            </a:prstGeom>
            <a:solidFill>
              <a:srgbClr val="C3D4EB"/>
            </a:soli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6" name="Google Shape;126;p2"/>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CL" sz="1800" b="0" i="0" u="none" strike="noStrike" cap="none">
                <a:solidFill>
                  <a:srgbClr val="757070"/>
                </a:solidFill>
                <a:latin typeface="Calibri"/>
                <a:ea typeface="Calibri"/>
                <a:cs typeface="Calibri"/>
                <a:sym typeface="Calibri"/>
              </a:rPr>
              <a:t>PROYECTO “</a:t>
            </a:r>
            <a:r>
              <a:rPr lang="es-CL" sz="1800">
                <a:solidFill>
                  <a:srgbClr val="757070"/>
                </a:solidFill>
                <a:latin typeface="Calibri"/>
                <a:ea typeface="Calibri"/>
                <a:cs typeface="Calibri"/>
                <a:sym typeface="Calibri"/>
              </a:rPr>
              <a:t>ConectaPyme</a:t>
            </a:r>
            <a:r>
              <a:rPr lang="es-CL" sz="1800" b="0" i="0" u="none" strike="noStrike" cap="none">
                <a:solidFill>
                  <a:srgbClr val="75707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127" name="Google Shape;127;p2"/>
          <p:cNvSpPr txBox="1"/>
          <p:nvPr/>
        </p:nvSpPr>
        <p:spPr>
          <a:xfrm>
            <a:off x="238327" y="3058616"/>
            <a:ext cx="3608961"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s-CL" sz="3600" b="0" i="0" u="none" strike="noStrike" cap="none">
                <a:solidFill>
                  <a:schemeClr val="dk1"/>
                </a:solidFill>
                <a:latin typeface="Calibri"/>
                <a:ea typeface="Calibri"/>
                <a:cs typeface="Calibri"/>
                <a:sym typeface="Calibri"/>
              </a:rPr>
              <a:t>INTEGRANTES DEL PROYECTO</a:t>
            </a:r>
            <a:endParaRPr sz="1800" b="0" i="0" u="none" strike="noStrike" cap="none">
              <a:solidFill>
                <a:schemeClr val="dk1"/>
              </a:solidFill>
              <a:latin typeface="Calibri"/>
              <a:ea typeface="Calibri"/>
              <a:cs typeface="Calibri"/>
              <a:sym typeface="Calibri"/>
            </a:endParaRPr>
          </a:p>
        </p:txBody>
      </p:sp>
      <p:cxnSp>
        <p:nvCxnSpPr>
          <p:cNvPr id="128" name="Google Shape;128;p2"/>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129" name="Google Shape;129;p2"/>
          <p:cNvPicPr preferRelativeResize="0"/>
          <p:nvPr/>
        </p:nvPicPr>
        <p:blipFill rotWithShape="1">
          <a:blip r:embed="rId4">
            <a:alphaModFix/>
          </a:blip>
          <a:srcRect/>
          <a:stretch/>
        </p:blipFill>
        <p:spPr>
          <a:xfrm>
            <a:off x="4266025" y="3243763"/>
            <a:ext cx="1513875" cy="1284675"/>
          </a:xfrm>
          <a:prstGeom prst="rect">
            <a:avLst/>
          </a:prstGeom>
          <a:noFill/>
          <a:ln>
            <a:noFill/>
          </a:ln>
        </p:spPr>
      </p:pic>
      <p:pic>
        <p:nvPicPr>
          <p:cNvPr id="130" name="Google Shape;130;p2"/>
          <p:cNvPicPr preferRelativeResize="0"/>
          <p:nvPr/>
        </p:nvPicPr>
        <p:blipFill rotWithShape="1">
          <a:blip r:embed="rId4">
            <a:alphaModFix/>
          </a:blip>
          <a:srcRect/>
          <a:stretch/>
        </p:blipFill>
        <p:spPr>
          <a:xfrm>
            <a:off x="4266025" y="1710813"/>
            <a:ext cx="1513875" cy="1284675"/>
          </a:xfrm>
          <a:prstGeom prst="rect">
            <a:avLst/>
          </a:prstGeom>
          <a:noFill/>
          <a:ln>
            <a:noFill/>
          </a:ln>
        </p:spPr>
      </p:pic>
      <p:pic>
        <p:nvPicPr>
          <p:cNvPr id="131" name="Google Shape;131;p2"/>
          <p:cNvPicPr preferRelativeResize="0"/>
          <p:nvPr/>
        </p:nvPicPr>
        <p:blipFill rotWithShape="1">
          <a:blip r:embed="rId4">
            <a:alphaModFix/>
          </a:blip>
          <a:srcRect/>
          <a:stretch/>
        </p:blipFill>
        <p:spPr>
          <a:xfrm>
            <a:off x="4266025" y="4776713"/>
            <a:ext cx="1513875" cy="1284675"/>
          </a:xfrm>
          <a:prstGeom prst="rect">
            <a:avLst/>
          </a:prstGeom>
          <a:noFill/>
          <a:ln>
            <a:noFill/>
          </a:ln>
        </p:spPr>
      </p:pic>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3"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37" name="Google Shape;137;p3"/>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CL" sz="1800" b="0" i="0" u="none" strike="noStrike" cap="none">
                <a:solidFill>
                  <a:srgbClr val="757070"/>
                </a:solidFill>
                <a:latin typeface="Calibri"/>
                <a:ea typeface="Calibri"/>
                <a:cs typeface="Calibri"/>
                <a:sym typeface="Calibri"/>
              </a:rPr>
              <a:t>PROYECTO “</a:t>
            </a:r>
            <a:r>
              <a:rPr lang="es-CL" sz="1800">
                <a:solidFill>
                  <a:srgbClr val="757070"/>
                </a:solidFill>
                <a:latin typeface="Calibri"/>
                <a:ea typeface="Calibri"/>
                <a:cs typeface="Calibri"/>
                <a:sym typeface="Calibri"/>
              </a:rPr>
              <a:t>ConectaPyme</a:t>
            </a:r>
            <a:r>
              <a:rPr lang="es-CL" sz="1800" b="0" i="0" u="none" strike="noStrike" cap="none">
                <a:solidFill>
                  <a:srgbClr val="75707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138" name="Google Shape;138;p3"/>
          <p:cNvSpPr txBox="1"/>
          <p:nvPr/>
        </p:nvSpPr>
        <p:spPr>
          <a:xfrm>
            <a:off x="0" y="1130849"/>
            <a:ext cx="12191999"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s-CL" sz="3600" b="0" i="0" u="none" strike="noStrike" cap="none">
                <a:solidFill>
                  <a:schemeClr val="dk1"/>
                </a:solidFill>
                <a:latin typeface="Calibri"/>
                <a:ea typeface="Calibri"/>
                <a:cs typeface="Calibri"/>
                <a:sym typeface="Calibri"/>
              </a:rPr>
              <a:t>DESCRIPCIÓN DEL PROYECTO</a:t>
            </a:r>
            <a:endParaRPr sz="1800" b="0" i="0" u="none" strike="noStrike" cap="none">
              <a:solidFill>
                <a:schemeClr val="dk1"/>
              </a:solidFill>
              <a:latin typeface="Calibri"/>
              <a:ea typeface="Calibri"/>
              <a:cs typeface="Calibri"/>
              <a:sym typeface="Calibri"/>
            </a:endParaRPr>
          </a:p>
        </p:txBody>
      </p:sp>
      <p:cxnSp>
        <p:nvCxnSpPr>
          <p:cNvPr id="139" name="Google Shape;139;p3"/>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40" name="Google Shape;140;p3"/>
          <p:cNvSpPr/>
          <p:nvPr/>
        </p:nvSpPr>
        <p:spPr>
          <a:xfrm>
            <a:off x="714909" y="2169769"/>
            <a:ext cx="4348705" cy="4092601"/>
          </a:xfrm>
          <a:prstGeom prst="roundRect">
            <a:avLst>
              <a:gd name="adj" fmla="val 10901"/>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s-CL" sz="3100" i="0" u="sng" strike="noStrike" cap="none">
                <a:solidFill>
                  <a:schemeClr val="dk1"/>
                </a:solidFill>
                <a:latin typeface="Calibri"/>
                <a:ea typeface="Calibri"/>
                <a:cs typeface="Calibri"/>
                <a:sym typeface="Calibri"/>
              </a:rPr>
              <a:t>Problema o dolor</a:t>
            </a:r>
            <a:endParaRPr sz="170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endParaRPr sz="2100" i="0" u="sng" strike="noStrike" cap="none">
              <a:solidFill>
                <a:schemeClr val="dk1"/>
              </a:solidFill>
              <a:latin typeface="Calibri"/>
              <a:ea typeface="Calibri"/>
              <a:cs typeface="Calibri"/>
              <a:sym typeface="Calibri"/>
            </a:endParaRPr>
          </a:p>
          <a:p>
            <a:pPr marL="0" marR="0" lvl="0" indent="0" algn="l" rtl="0">
              <a:lnSpc>
                <a:spcPct val="115000"/>
              </a:lnSpc>
              <a:spcBef>
                <a:spcPts val="1200"/>
              </a:spcBef>
              <a:spcAft>
                <a:spcPts val="1200"/>
              </a:spcAft>
              <a:buClr>
                <a:schemeClr val="dk1"/>
              </a:buClr>
              <a:buSzPts val="1100"/>
              <a:buFont typeface="Arial"/>
              <a:buNone/>
            </a:pPr>
            <a:r>
              <a:rPr lang="es-CL" sz="1825">
                <a:solidFill>
                  <a:schemeClr val="dk1"/>
                </a:solidFill>
                <a:latin typeface="Calibri"/>
                <a:ea typeface="Calibri"/>
                <a:cs typeface="Calibri"/>
                <a:sym typeface="Calibri"/>
              </a:rPr>
              <a:t>En Chile, la mayoría de las PYMES aún tiene grandes dificultades para digitalizarse. Solo el </a:t>
            </a:r>
            <a:r>
              <a:rPr lang="es-CL" sz="1825" b="1">
                <a:solidFill>
                  <a:schemeClr val="dk1"/>
                </a:solidFill>
                <a:latin typeface="Calibri"/>
                <a:ea typeface="Calibri"/>
                <a:cs typeface="Calibri"/>
                <a:sym typeface="Calibri"/>
              </a:rPr>
              <a:t>23,1%</a:t>
            </a:r>
            <a:r>
              <a:rPr lang="es-CL" sz="1825">
                <a:solidFill>
                  <a:schemeClr val="dk1"/>
                </a:solidFill>
                <a:latin typeface="Calibri"/>
                <a:ea typeface="Calibri"/>
                <a:cs typeface="Calibri"/>
                <a:sym typeface="Calibri"/>
              </a:rPr>
              <a:t> cuenta con presencia online, lo que significa que alrededor del </a:t>
            </a:r>
            <a:r>
              <a:rPr lang="es-CL" sz="1825" b="1">
                <a:solidFill>
                  <a:schemeClr val="dk1"/>
                </a:solidFill>
                <a:latin typeface="Calibri"/>
                <a:ea typeface="Calibri"/>
                <a:cs typeface="Calibri"/>
                <a:sym typeface="Calibri"/>
              </a:rPr>
              <a:t>77%</a:t>
            </a:r>
            <a:r>
              <a:rPr lang="es-CL" sz="1825">
                <a:solidFill>
                  <a:schemeClr val="dk1"/>
                </a:solidFill>
                <a:latin typeface="Calibri"/>
                <a:ea typeface="Calibri"/>
                <a:cs typeface="Calibri"/>
                <a:sym typeface="Calibri"/>
              </a:rPr>
              <a:t> no tiene un lugar donde buscar distribuidores confiables, comparar precios o acceder a productos de forma rápida.</a:t>
            </a:r>
            <a:endParaRPr sz="2100" i="0" u="sng" strike="noStrike" cap="none">
              <a:solidFill>
                <a:schemeClr val="dk1"/>
              </a:solidFill>
              <a:latin typeface="Calibri"/>
              <a:ea typeface="Calibri"/>
              <a:cs typeface="Calibri"/>
              <a:sym typeface="Calibri"/>
            </a:endParaRPr>
          </a:p>
        </p:txBody>
      </p:sp>
      <p:sp>
        <p:nvSpPr>
          <p:cNvPr id="141" name="Google Shape;141;p3"/>
          <p:cNvSpPr/>
          <p:nvPr/>
        </p:nvSpPr>
        <p:spPr>
          <a:xfrm>
            <a:off x="6921128" y="2054419"/>
            <a:ext cx="4348800" cy="4323300"/>
          </a:xfrm>
          <a:prstGeom prst="roundRect">
            <a:avLst>
              <a:gd name="adj" fmla="val 10901"/>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s-CL" sz="3400" i="0" u="sng" strike="noStrike" cap="none">
                <a:solidFill>
                  <a:schemeClr val="dk1"/>
                </a:solidFill>
                <a:latin typeface="Calibri"/>
                <a:ea typeface="Calibri"/>
                <a:cs typeface="Calibri"/>
                <a:sym typeface="Calibri"/>
              </a:rPr>
              <a:t>Propuesta de solución</a:t>
            </a:r>
            <a:endParaRPr sz="200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endParaRPr sz="2400" i="0" u="sng"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chemeClr val="dk1"/>
              </a:buClr>
              <a:buSzPts val="1100"/>
              <a:buFont typeface="Arial"/>
              <a:buNone/>
            </a:pPr>
            <a:r>
              <a:rPr lang="es-CL" sz="1900">
                <a:solidFill>
                  <a:schemeClr val="dk1"/>
                </a:solidFill>
                <a:latin typeface="Calibri"/>
                <a:ea typeface="Calibri"/>
                <a:cs typeface="Calibri"/>
                <a:sym typeface="Calibri"/>
              </a:rPr>
              <a:t>Desarrollar una plataforma donde Distribuidoras y Pymes se concentren en un solo lugar, dando pie a la masificación de sus negocios y visibilidad, generando relaciones de confianza entre negocios y apoyando dichos comercios.</a:t>
            </a:r>
            <a:endParaRPr sz="1900">
              <a:solidFill>
                <a:schemeClr val="dk1"/>
              </a:solidFill>
              <a:latin typeface="Calibri"/>
              <a:ea typeface="Calibri"/>
              <a:cs typeface="Calibri"/>
              <a:sym typeface="Calibri"/>
            </a:endParaRPr>
          </a:p>
          <a:p>
            <a:pPr marL="0" marR="0" lvl="0" indent="0" algn="just" rtl="0">
              <a:lnSpc>
                <a:spcPct val="100000"/>
              </a:lnSpc>
              <a:spcBef>
                <a:spcPts val="1200"/>
              </a:spcBef>
              <a:spcAft>
                <a:spcPts val="0"/>
              </a:spcAft>
              <a:buClr>
                <a:srgbClr val="000000"/>
              </a:buClr>
              <a:buSzPts val="1800"/>
              <a:buFont typeface="Arial"/>
              <a:buNone/>
            </a:pPr>
            <a:endParaRPr sz="2400">
              <a:solidFill>
                <a:schemeClr val="dk1"/>
              </a:solidFill>
              <a:latin typeface="Calibri"/>
              <a:ea typeface="Calibri"/>
              <a:cs typeface="Calibri"/>
              <a:sym typeface="Calibri"/>
            </a:endParaRPr>
          </a:p>
        </p:txBody>
      </p:sp>
      <p:sp>
        <p:nvSpPr>
          <p:cNvPr id="142" name="Google Shape;142;p3"/>
          <p:cNvSpPr/>
          <p:nvPr/>
        </p:nvSpPr>
        <p:spPr>
          <a:xfrm>
            <a:off x="5456903" y="3736258"/>
            <a:ext cx="1140542" cy="757084"/>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p:cTn id="7" dur="500"/>
                                        <p:tgtEl>
                                          <p:spTgt spid="1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2"/>
                                        </p:tgtEl>
                                        <p:attrNameLst>
                                          <p:attrName>style.visibility</p:attrName>
                                        </p:attrNameLst>
                                      </p:cBhvr>
                                      <p:to>
                                        <p:strVal val="visible"/>
                                      </p:to>
                                    </p:set>
                                    <p:animEffect transition="in" filter="fade">
                                      <p:cBhvr>
                                        <p:cTn id="12" dur="500"/>
                                        <p:tgtEl>
                                          <p:spTgt spid="142"/>
                                        </p:tgtEl>
                                      </p:cBhvr>
                                    </p:animEffect>
                                  </p:childTnLst>
                                </p:cTn>
                              </p:par>
                              <p:par>
                                <p:cTn id="13" presetID="10" presetClass="entr" presetSubtype="0" fill="hold" nodeType="withEffect">
                                  <p:stCondLst>
                                    <p:cond delay="0"/>
                                  </p:stCondLst>
                                  <p:childTnLst>
                                    <p:set>
                                      <p:cBhvr>
                                        <p:cTn id="14" dur="1" fill="hold">
                                          <p:stCondLst>
                                            <p:cond delay="0"/>
                                          </p:stCondLst>
                                        </p:cTn>
                                        <p:tgtEl>
                                          <p:spTgt spid="141"/>
                                        </p:tgtEl>
                                        <p:attrNameLst>
                                          <p:attrName>style.visibility</p:attrName>
                                        </p:attrNameLst>
                                      </p:cBhvr>
                                      <p:to>
                                        <p:strVal val="visible"/>
                                      </p:to>
                                    </p:set>
                                    <p:animEffect transition="in" filter="fade">
                                      <p:cBhvr>
                                        <p:cTn id="15"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3adb49ca0c1_7_0"/>
          <p:cNvSpPr txBox="1">
            <a:spLocks noGrp="1"/>
          </p:cNvSpPr>
          <p:nvPr>
            <p:ph type="title"/>
          </p:nvPr>
        </p:nvSpPr>
        <p:spPr>
          <a:xfrm>
            <a:off x="3087102" y="307278"/>
            <a:ext cx="1988100" cy="548100"/>
          </a:xfrm>
          <a:prstGeom prst="rect">
            <a:avLst/>
          </a:prstGeom>
        </p:spPr>
        <p:txBody>
          <a:bodyPr spcFirstLastPara="1" wrap="square" lIns="91425" tIns="45700" rIns="91425" bIns="45700" anchor="b" anchorCtr="0">
            <a:normAutofit fontScale="90000"/>
          </a:bodyPr>
          <a:lstStyle/>
          <a:p>
            <a:pPr marL="0" lvl="0" indent="0" algn="l" rtl="0">
              <a:spcBef>
                <a:spcPts val="0"/>
              </a:spcBef>
              <a:spcAft>
                <a:spcPts val="0"/>
              </a:spcAft>
              <a:buNone/>
            </a:pPr>
            <a:r>
              <a:rPr lang="es-CL" b="1"/>
              <a:t>Encuestas</a:t>
            </a:r>
            <a:endParaRPr b="1"/>
          </a:p>
          <a:p>
            <a:pPr marL="0" lvl="0" indent="0" algn="l" rtl="0">
              <a:spcBef>
                <a:spcPts val="0"/>
              </a:spcBef>
              <a:spcAft>
                <a:spcPts val="0"/>
              </a:spcAft>
              <a:buNone/>
            </a:pPr>
            <a:endParaRPr b="1"/>
          </a:p>
        </p:txBody>
      </p:sp>
      <p:sp>
        <p:nvSpPr>
          <p:cNvPr id="148" name="Google Shape;148;g3adb49ca0c1_7_0"/>
          <p:cNvSpPr txBox="1">
            <a:spLocks noGrp="1"/>
          </p:cNvSpPr>
          <p:nvPr>
            <p:ph type="body" idx="1"/>
          </p:nvPr>
        </p:nvSpPr>
        <p:spPr>
          <a:xfrm>
            <a:off x="1847050" y="1919575"/>
            <a:ext cx="5007600" cy="3902700"/>
          </a:xfrm>
          <a:prstGeom prst="rect">
            <a:avLst/>
          </a:prstGeom>
        </p:spPr>
        <p:txBody>
          <a:bodyPr spcFirstLastPara="1" wrap="square" lIns="0" tIns="45700" rIns="0" bIns="45700" anchor="t" anchorCtr="0">
            <a:normAutofit fontScale="92500" lnSpcReduction="20000"/>
          </a:bodyPr>
          <a:lstStyle/>
          <a:p>
            <a:pPr marL="0" lvl="0" indent="0" algn="l" rtl="0">
              <a:spcBef>
                <a:spcPts val="1600"/>
              </a:spcBef>
              <a:spcAft>
                <a:spcPts val="0"/>
              </a:spcAft>
              <a:buNone/>
            </a:pPr>
            <a:r>
              <a:rPr lang="es-CL" sz="2000"/>
              <a:t>Se llevó a cabo una encuesta dirigida a las PYMES con el objetivo de identificar los principales factores que consideran al momento de establecer relaciones comerciales con un distribuidor.</a:t>
            </a:r>
            <a:endParaRPr sz="2000"/>
          </a:p>
          <a:p>
            <a:pPr marL="0" lvl="0" indent="0" algn="l" rtl="0">
              <a:spcBef>
                <a:spcPts val="1600"/>
              </a:spcBef>
              <a:spcAft>
                <a:spcPts val="0"/>
              </a:spcAft>
              <a:buNone/>
            </a:pPr>
            <a:endParaRPr sz="2000"/>
          </a:p>
          <a:p>
            <a:pPr marL="0" lvl="0" indent="0" algn="l" rtl="0">
              <a:spcBef>
                <a:spcPts val="1600"/>
              </a:spcBef>
              <a:spcAft>
                <a:spcPts val="0"/>
              </a:spcAft>
              <a:buNone/>
            </a:pPr>
            <a:endParaRPr sz="2000"/>
          </a:p>
          <a:p>
            <a:pPr marL="0" lvl="0" indent="0" algn="l" rtl="0">
              <a:spcBef>
                <a:spcPts val="1600"/>
              </a:spcBef>
              <a:spcAft>
                <a:spcPts val="0"/>
              </a:spcAft>
              <a:buNone/>
            </a:pPr>
            <a:endParaRPr sz="2000"/>
          </a:p>
          <a:p>
            <a:pPr marL="0" lvl="0" indent="0" algn="l" rtl="0">
              <a:spcBef>
                <a:spcPts val="1600"/>
              </a:spcBef>
              <a:spcAft>
                <a:spcPts val="0"/>
              </a:spcAft>
              <a:buNone/>
            </a:pPr>
            <a:r>
              <a:rPr lang="es-CL" sz="2000"/>
              <a:t>De manera complementaria, se aplicó una segunda encuesta enfocada en los distribuidores, con el propósito de conocer los métodos más utilizados para atraer más clientes.</a:t>
            </a:r>
            <a:endParaRPr sz="2000"/>
          </a:p>
          <a:p>
            <a:pPr marL="0" lvl="0" indent="0" algn="l" rtl="0">
              <a:spcBef>
                <a:spcPts val="1200"/>
              </a:spcBef>
              <a:spcAft>
                <a:spcPts val="200"/>
              </a:spcAft>
              <a:buNone/>
            </a:pPr>
            <a:endParaRPr sz="2000"/>
          </a:p>
        </p:txBody>
      </p:sp>
      <p:pic>
        <p:nvPicPr>
          <p:cNvPr id="149" name="Google Shape;149;g3adb49ca0c1_7_0"/>
          <p:cNvPicPr preferRelativeResize="0"/>
          <p:nvPr/>
        </p:nvPicPr>
        <p:blipFill>
          <a:blip r:embed="rId3">
            <a:alphaModFix/>
          </a:blip>
          <a:stretch>
            <a:fillRect/>
          </a:stretch>
        </p:blipFill>
        <p:spPr>
          <a:xfrm>
            <a:off x="7346225" y="3477221"/>
            <a:ext cx="4699275" cy="2808179"/>
          </a:xfrm>
          <a:prstGeom prst="rect">
            <a:avLst/>
          </a:prstGeom>
          <a:noFill/>
          <a:ln>
            <a:noFill/>
          </a:ln>
        </p:spPr>
      </p:pic>
      <p:pic>
        <p:nvPicPr>
          <p:cNvPr id="150" name="Google Shape;150;g3adb49ca0c1_7_0"/>
          <p:cNvPicPr preferRelativeResize="0"/>
          <p:nvPr/>
        </p:nvPicPr>
        <p:blipFill>
          <a:blip r:embed="rId4">
            <a:alphaModFix/>
          </a:blip>
          <a:stretch>
            <a:fillRect/>
          </a:stretch>
        </p:blipFill>
        <p:spPr>
          <a:xfrm>
            <a:off x="7399500" y="307274"/>
            <a:ext cx="4699275" cy="3025100"/>
          </a:xfrm>
          <a:prstGeom prst="rect">
            <a:avLst/>
          </a:prstGeom>
          <a:noFill/>
          <a:ln>
            <a:noFill/>
          </a:ln>
        </p:spPr>
      </p:pic>
      <p:sp>
        <p:nvSpPr>
          <p:cNvPr id="151" name="Google Shape;151;g3adb49ca0c1_7_0"/>
          <p:cNvSpPr txBox="1"/>
          <p:nvPr/>
        </p:nvSpPr>
        <p:spPr>
          <a:xfrm>
            <a:off x="3037625" y="735350"/>
            <a:ext cx="1797600" cy="43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CL" sz="2000">
                <a:solidFill>
                  <a:srgbClr val="3F3F3F"/>
                </a:solidFill>
                <a:latin typeface="Calibri"/>
                <a:ea typeface="Calibri"/>
                <a:cs typeface="Calibri"/>
                <a:sym typeface="Calibri"/>
              </a:rPr>
              <a:t>Total encuestados: 1145 personas</a:t>
            </a:r>
            <a:endParaRPr sz="2000">
              <a:solidFill>
                <a:srgbClr val="3F3F3F"/>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4"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57" name="Google Shape;157;p4"/>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CL" sz="1800" b="0" i="0" u="none" strike="noStrike" cap="none">
                <a:solidFill>
                  <a:srgbClr val="757070"/>
                </a:solidFill>
                <a:latin typeface="Calibri"/>
                <a:ea typeface="Calibri"/>
                <a:cs typeface="Calibri"/>
                <a:sym typeface="Calibri"/>
              </a:rPr>
              <a:t>PROYECTO “</a:t>
            </a:r>
            <a:r>
              <a:rPr lang="es-CL" sz="1800">
                <a:solidFill>
                  <a:srgbClr val="757070"/>
                </a:solidFill>
                <a:latin typeface="Calibri"/>
                <a:ea typeface="Calibri"/>
                <a:cs typeface="Calibri"/>
                <a:sym typeface="Calibri"/>
              </a:rPr>
              <a:t>ConectaPyme</a:t>
            </a:r>
            <a:r>
              <a:rPr lang="es-CL" sz="1800" b="0" i="0" u="none" strike="noStrike" cap="none">
                <a:solidFill>
                  <a:srgbClr val="75707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158" name="Google Shape;158;p4"/>
          <p:cNvSpPr txBox="1"/>
          <p:nvPr/>
        </p:nvSpPr>
        <p:spPr>
          <a:xfrm>
            <a:off x="0" y="1384304"/>
            <a:ext cx="12191999"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s-CL" sz="3600" b="0" i="0" u="none" strike="noStrike" cap="none">
                <a:solidFill>
                  <a:schemeClr val="dk1"/>
                </a:solidFill>
                <a:latin typeface="Calibri"/>
                <a:ea typeface="Calibri"/>
                <a:cs typeface="Calibri"/>
                <a:sym typeface="Calibri"/>
              </a:rPr>
              <a:t>Objetivo General</a:t>
            </a:r>
            <a:endParaRPr sz="1800" b="0" i="0" u="none" strike="noStrike" cap="none">
              <a:solidFill>
                <a:schemeClr val="dk1"/>
              </a:solidFill>
              <a:latin typeface="Calibri"/>
              <a:ea typeface="Calibri"/>
              <a:cs typeface="Calibri"/>
              <a:sym typeface="Calibri"/>
            </a:endParaRPr>
          </a:p>
        </p:txBody>
      </p:sp>
      <p:cxnSp>
        <p:nvCxnSpPr>
          <p:cNvPr id="159" name="Google Shape;159;p4"/>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60" name="Google Shape;160;p4"/>
          <p:cNvSpPr txBox="1"/>
          <p:nvPr/>
        </p:nvSpPr>
        <p:spPr>
          <a:xfrm>
            <a:off x="1" y="3746846"/>
            <a:ext cx="12192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s-CL" sz="3600" b="0" i="0" u="none" strike="noStrike" cap="none">
                <a:solidFill>
                  <a:schemeClr val="dk1"/>
                </a:solidFill>
                <a:latin typeface="Calibri"/>
                <a:ea typeface="Calibri"/>
                <a:cs typeface="Calibri"/>
                <a:sym typeface="Calibri"/>
              </a:rPr>
              <a:t>Objetivos Específicos</a:t>
            </a:r>
            <a:endParaRPr sz="1800" b="0" i="0" u="none" strike="noStrike" cap="none">
              <a:solidFill>
                <a:schemeClr val="dk1"/>
              </a:solidFill>
              <a:latin typeface="Calibri"/>
              <a:ea typeface="Calibri"/>
              <a:cs typeface="Calibri"/>
              <a:sym typeface="Calibri"/>
            </a:endParaRPr>
          </a:p>
        </p:txBody>
      </p:sp>
      <p:sp>
        <p:nvSpPr>
          <p:cNvPr id="161" name="Google Shape;161;p4"/>
          <p:cNvSpPr/>
          <p:nvPr/>
        </p:nvSpPr>
        <p:spPr>
          <a:xfrm>
            <a:off x="820965" y="2030621"/>
            <a:ext cx="10962900" cy="1575300"/>
          </a:xfrm>
          <a:prstGeom prst="roundRect">
            <a:avLst>
              <a:gd name="adj" fmla="val 16667"/>
            </a:avLst>
          </a:prstGeom>
          <a:solidFill>
            <a:schemeClr val="lt1"/>
          </a:solidFill>
          <a:ln w="12700" cap="flat" cmpd="sng">
            <a:solidFill>
              <a:srgbClr val="43434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5000"/>
              </a:lnSpc>
              <a:spcBef>
                <a:spcPts val="0"/>
              </a:spcBef>
              <a:spcAft>
                <a:spcPts val="1200"/>
              </a:spcAft>
              <a:buClr>
                <a:schemeClr val="dk1"/>
              </a:buClr>
              <a:buSzPts val="1100"/>
              <a:buFont typeface="Arial"/>
              <a:buNone/>
            </a:pPr>
            <a:r>
              <a:rPr lang="es-CL" sz="2300">
                <a:solidFill>
                  <a:schemeClr val="dk1"/>
                </a:solidFill>
                <a:latin typeface="Calibri"/>
                <a:ea typeface="Calibri"/>
                <a:cs typeface="Calibri"/>
                <a:sym typeface="Calibri"/>
              </a:rPr>
              <a:t>ConectaPyme busca conectar y digitalizar a </a:t>
            </a:r>
            <a:r>
              <a:rPr lang="es-CL" sz="2300" b="1">
                <a:solidFill>
                  <a:schemeClr val="dk1"/>
                </a:solidFill>
                <a:latin typeface="Calibri"/>
                <a:ea typeface="Calibri"/>
                <a:cs typeface="Calibri"/>
                <a:sym typeface="Calibri"/>
              </a:rPr>
              <a:t>PYMES</a:t>
            </a:r>
            <a:r>
              <a:rPr lang="es-CL" sz="2300">
                <a:solidFill>
                  <a:schemeClr val="dk1"/>
                </a:solidFill>
                <a:latin typeface="Calibri"/>
                <a:ea typeface="Calibri"/>
                <a:cs typeface="Calibri"/>
                <a:sym typeface="Calibri"/>
              </a:rPr>
              <a:t> y </a:t>
            </a:r>
            <a:r>
              <a:rPr lang="es-CL" sz="2300" b="1">
                <a:solidFill>
                  <a:schemeClr val="dk1"/>
                </a:solidFill>
                <a:latin typeface="Calibri"/>
                <a:ea typeface="Calibri"/>
                <a:cs typeface="Calibri"/>
                <a:sym typeface="Calibri"/>
              </a:rPr>
              <a:t>DISTRIBUIDORES</a:t>
            </a:r>
            <a:r>
              <a:rPr lang="es-CL" sz="2300">
                <a:solidFill>
                  <a:schemeClr val="dk1"/>
                </a:solidFill>
                <a:latin typeface="Calibri"/>
                <a:ea typeface="Calibri"/>
                <a:cs typeface="Calibri"/>
                <a:sym typeface="Calibri"/>
              </a:rPr>
              <a:t>, mejorando su comunicación, oportunidades de negocio y confianza.</a:t>
            </a:r>
            <a:endParaRPr sz="2800" i="0" u="none" strike="noStrike" cap="none">
              <a:solidFill>
                <a:schemeClr val="dk1"/>
              </a:solidFill>
              <a:latin typeface="Calibri"/>
              <a:ea typeface="Calibri"/>
              <a:cs typeface="Calibri"/>
              <a:sym typeface="Calibri"/>
            </a:endParaRPr>
          </a:p>
        </p:txBody>
      </p:sp>
      <p:sp>
        <p:nvSpPr>
          <p:cNvPr id="162" name="Google Shape;162;p4"/>
          <p:cNvSpPr/>
          <p:nvPr/>
        </p:nvSpPr>
        <p:spPr>
          <a:xfrm>
            <a:off x="652975" y="4323898"/>
            <a:ext cx="11298900" cy="1942200"/>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457200" marR="0" lvl="0" indent="-368300" algn="l" rtl="0">
              <a:lnSpc>
                <a:spcPct val="115000"/>
              </a:lnSpc>
              <a:spcBef>
                <a:spcPts val="0"/>
              </a:spcBef>
              <a:spcAft>
                <a:spcPts val="0"/>
              </a:spcAft>
              <a:buClr>
                <a:schemeClr val="dk1"/>
              </a:buClr>
              <a:buSzPts val="2200"/>
              <a:buFont typeface="Calibri"/>
              <a:buChar char="●"/>
            </a:pPr>
            <a:r>
              <a:rPr lang="es-CL" sz="1700">
                <a:solidFill>
                  <a:schemeClr val="dk1"/>
                </a:solidFill>
                <a:latin typeface="Calibri"/>
                <a:ea typeface="Calibri"/>
                <a:cs typeface="Calibri"/>
                <a:sym typeface="Calibri"/>
              </a:rPr>
              <a:t>Alcanzar un registro inicial de al menos 50 usuarios durante el primer mes de lanzamiento, como indicador del interés y adopción de la plataforma.</a:t>
            </a:r>
            <a:endParaRPr sz="1700">
              <a:solidFill>
                <a:schemeClr val="dk1"/>
              </a:solidFill>
              <a:latin typeface="Calibri"/>
              <a:ea typeface="Calibri"/>
              <a:cs typeface="Calibri"/>
              <a:sym typeface="Calibri"/>
            </a:endParaRPr>
          </a:p>
          <a:p>
            <a:pPr marL="457200" marR="0" lvl="0" indent="-336550" algn="l" rtl="0">
              <a:lnSpc>
                <a:spcPct val="115000"/>
              </a:lnSpc>
              <a:spcBef>
                <a:spcPts val="0"/>
              </a:spcBef>
              <a:spcAft>
                <a:spcPts val="0"/>
              </a:spcAft>
              <a:buClr>
                <a:schemeClr val="dk1"/>
              </a:buClr>
              <a:buSzPts val="1700"/>
              <a:buFont typeface="Lato"/>
              <a:buChar char="●"/>
            </a:pPr>
            <a:r>
              <a:rPr lang="es-CL" sz="1700" b="1">
                <a:solidFill>
                  <a:schemeClr val="dk1"/>
                </a:solidFill>
                <a:latin typeface="Calibri"/>
                <a:ea typeface="Calibri"/>
                <a:cs typeface="Calibri"/>
                <a:sym typeface="Calibri"/>
              </a:rPr>
              <a:t>Recoger retroalimentación de los usuarios</a:t>
            </a:r>
            <a:r>
              <a:rPr lang="es-CL" sz="1700">
                <a:solidFill>
                  <a:schemeClr val="dk1"/>
                </a:solidFill>
                <a:latin typeface="Calibri"/>
                <a:ea typeface="Calibri"/>
                <a:cs typeface="Calibri"/>
                <a:sym typeface="Calibri"/>
              </a:rPr>
              <a:t>, para aplicar mejoras continuas y ajustar las funcionalidades del sistema según sus necesidades.</a:t>
            </a:r>
            <a:endParaRPr sz="1700">
              <a:solidFill>
                <a:schemeClr val="dk1"/>
              </a:solidFill>
              <a:latin typeface="Calibri"/>
              <a:ea typeface="Calibri"/>
              <a:cs typeface="Calibri"/>
              <a:sym typeface="Calibri"/>
            </a:endParaRPr>
          </a:p>
          <a:p>
            <a:pPr marL="457200" marR="0" lvl="0" indent="-336550" algn="l" rtl="0">
              <a:lnSpc>
                <a:spcPct val="115000"/>
              </a:lnSpc>
              <a:spcBef>
                <a:spcPts val="0"/>
              </a:spcBef>
              <a:spcAft>
                <a:spcPts val="0"/>
              </a:spcAft>
              <a:buClr>
                <a:schemeClr val="dk1"/>
              </a:buClr>
              <a:buSzPts val="1700"/>
              <a:buFont typeface="Lato"/>
              <a:buChar char="●"/>
            </a:pPr>
            <a:r>
              <a:rPr lang="es-CL" sz="1700" b="1">
                <a:solidFill>
                  <a:schemeClr val="dk1"/>
                </a:solidFill>
                <a:latin typeface="Calibri"/>
                <a:ea typeface="Calibri"/>
                <a:cs typeface="Calibri"/>
                <a:sym typeface="Calibri"/>
              </a:rPr>
              <a:t>Aumentar la confianza entre PYMES y distribuidores</a:t>
            </a:r>
            <a:r>
              <a:rPr lang="es-CL" sz="1700">
                <a:solidFill>
                  <a:schemeClr val="dk1"/>
                </a:solidFill>
                <a:latin typeface="Calibri"/>
                <a:ea typeface="Calibri"/>
                <a:cs typeface="Calibri"/>
                <a:sym typeface="Calibri"/>
              </a:rPr>
              <a:t>, promoviendo la transparencia y la verificación de información dentro de la plataforma.</a:t>
            </a:r>
            <a:endParaRPr sz="1700">
              <a:solidFill>
                <a:schemeClr val="dk1"/>
              </a:solidFill>
              <a:latin typeface="Calibri"/>
              <a:ea typeface="Calibri"/>
              <a:cs typeface="Calibri"/>
              <a:sym typeface="Calibri"/>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500"/>
                                        <p:tgtEl>
                                          <p:spTgt spid="160"/>
                                        </p:tgtEl>
                                      </p:cBhvr>
                                    </p:animEffect>
                                  </p:childTnLst>
                                </p:cTn>
                              </p:par>
                              <p:par>
                                <p:cTn id="8" presetID="10" presetClass="entr" presetSubtype="0" fill="hold" nodeType="withEffect">
                                  <p:stCondLst>
                                    <p:cond delay="0"/>
                                  </p:stCondLst>
                                  <p:childTnLst>
                                    <p:set>
                                      <p:cBhvr>
                                        <p:cTn id="9" dur="1" fill="hold">
                                          <p:stCondLst>
                                            <p:cond delay="0"/>
                                          </p:stCondLst>
                                        </p:cTn>
                                        <p:tgtEl>
                                          <p:spTgt spid="162"/>
                                        </p:tgtEl>
                                        <p:attrNameLst>
                                          <p:attrName>style.visibility</p:attrName>
                                        </p:attrNameLst>
                                      </p:cBhvr>
                                      <p:to>
                                        <p:strVal val="visible"/>
                                      </p:to>
                                    </p:set>
                                    <p:animEffect transition="in" filter="fade">
                                      <p:cBhvr>
                                        <p:cTn id="10" dur="5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6"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78" name="Google Shape;178;p6"/>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CL" sz="1800" b="0" i="0" u="none" strike="noStrike" cap="none">
                <a:solidFill>
                  <a:srgbClr val="757070"/>
                </a:solidFill>
                <a:latin typeface="Calibri"/>
                <a:ea typeface="Calibri"/>
                <a:cs typeface="Calibri"/>
                <a:sym typeface="Calibri"/>
              </a:rPr>
              <a:t>PROYECTO “</a:t>
            </a:r>
            <a:r>
              <a:rPr lang="es-CL" sz="1800">
                <a:solidFill>
                  <a:srgbClr val="757070"/>
                </a:solidFill>
                <a:latin typeface="Calibri"/>
                <a:ea typeface="Calibri"/>
                <a:cs typeface="Calibri"/>
                <a:sym typeface="Calibri"/>
              </a:rPr>
              <a:t>ConectaPyme</a:t>
            </a:r>
            <a:r>
              <a:rPr lang="es-CL" sz="1800" b="0" i="0" u="none" strike="noStrike" cap="none">
                <a:solidFill>
                  <a:srgbClr val="75707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179" name="Google Shape;179;p6"/>
          <p:cNvSpPr txBox="1"/>
          <p:nvPr/>
        </p:nvSpPr>
        <p:spPr>
          <a:xfrm>
            <a:off x="136188" y="1059705"/>
            <a:ext cx="12192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s-CL" sz="3600" b="0" i="0" u="none" strike="noStrike" cap="none">
                <a:solidFill>
                  <a:schemeClr val="dk1"/>
                </a:solidFill>
                <a:latin typeface="Calibri"/>
                <a:ea typeface="Calibri"/>
                <a:cs typeface="Calibri"/>
                <a:sym typeface="Calibri"/>
              </a:rPr>
              <a:t>Metodología de trabajo para el desarrollo del proyecto</a:t>
            </a:r>
            <a:endParaRPr sz="1800" b="0" i="0" u="none" strike="noStrike" cap="none">
              <a:solidFill>
                <a:schemeClr val="dk1"/>
              </a:solidFill>
              <a:latin typeface="Calibri"/>
              <a:ea typeface="Calibri"/>
              <a:cs typeface="Calibri"/>
              <a:sym typeface="Calibri"/>
            </a:endParaRPr>
          </a:p>
        </p:txBody>
      </p:sp>
      <p:cxnSp>
        <p:nvCxnSpPr>
          <p:cNvPr id="180" name="Google Shape;180;p6"/>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181" name="Google Shape;181;p6"/>
          <p:cNvPicPr preferRelativeResize="0"/>
          <p:nvPr/>
        </p:nvPicPr>
        <p:blipFill rotWithShape="1">
          <a:blip r:embed="rId4">
            <a:alphaModFix/>
          </a:blip>
          <a:srcRect/>
          <a:stretch/>
        </p:blipFill>
        <p:spPr>
          <a:xfrm>
            <a:off x="8842150" y="2027650"/>
            <a:ext cx="3001400" cy="3014126"/>
          </a:xfrm>
          <a:prstGeom prst="rect">
            <a:avLst/>
          </a:prstGeom>
          <a:noFill/>
          <a:ln>
            <a:noFill/>
          </a:ln>
        </p:spPr>
      </p:pic>
      <p:sp>
        <p:nvSpPr>
          <p:cNvPr id="182" name="Google Shape;182;p6"/>
          <p:cNvSpPr txBox="1"/>
          <p:nvPr/>
        </p:nvSpPr>
        <p:spPr>
          <a:xfrm>
            <a:off x="910325" y="3949925"/>
            <a:ext cx="5649900" cy="1995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800"/>
              <a:buFont typeface="Calibri"/>
              <a:buNone/>
            </a:pPr>
            <a:r>
              <a:rPr lang="es-CL" sz="2100" u="sng">
                <a:solidFill>
                  <a:schemeClr val="dk1"/>
                </a:solidFill>
              </a:rPr>
              <a:t>Estimación de tareas - Planning Poker</a:t>
            </a:r>
            <a:endParaRPr sz="2100" u="sng">
              <a:solidFill>
                <a:schemeClr val="dk1"/>
              </a:solidFill>
            </a:endParaRPr>
          </a:p>
          <a:p>
            <a:pPr marL="457200" marR="0" lvl="0" indent="-342900" algn="just" rtl="0">
              <a:spcBef>
                <a:spcPts val="0"/>
              </a:spcBef>
              <a:spcAft>
                <a:spcPts val="0"/>
              </a:spcAft>
              <a:buClr>
                <a:schemeClr val="dk1"/>
              </a:buClr>
              <a:buSzPts val="1800"/>
              <a:buChar char="●"/>
            </a:pPr>
            <a:r>
              <a:rPr lang="es-CL" sz="1800">
                <a:solidFill>
                  <a:schemeClr val="dk1"/>
                </a:solidFill>
              </a:rPr>
              <a:t>Secuencia Fibonacci para estimar el esfuerzo de cada tarea</a:t>
            </a:r>
            <a:endParaRPr sz="1800">
              <a:solidFill>
                <a:schemeClr val="dk1"/>
              </a:solidFill>
            </a:endParaRPr>
          </a:p>
          <a:p>
            <a:pPr marL="457200" marR="0" lvl="0" indent="-342900" algn="just" rtl="0">
              <a:spcBef>
                <a:spcPts val="0"/>
              </a:spcBef>
              <a:spcAft>
                <a:spcPts val="0"/>
              </a:spcAft>
              <a:buClr>
                <a:schemeClr val="dk1"/>
              </a:buClr>
              <a:buSzPts val="1800"/>
              <a:buChar char="●"/>
            </a:pPr>
            <a:r>
              <a:rPr lang="es-CL" sz="1800">
                <a:solidFill>
                  <a:schemeClr val="dk1"/>
                </a:solidFill>
              </a:rPr>
              <a:t>Permite consensuar al equipo</a:t>
            </a:r>
            <a:endParaRPr sz="1800">
              <a:solidFill>
                <a:schemeClr val="dk1"/>
              </a:solidFill>
            </a:endParaRPr>
          </a:p>
          <a:p>
            <a:pPr marL="457200" marR="0" lvl="0" indent="-342900" algn="just" rtl="0">
              <a:spcBef>
                <a:spcPts val="0"/>
              </a:spcBef>
              <a:spcAft>
                <a:spcPts val="0"/>
              </a:spcAft>
              <a:buClr>
                <a:schemeClr val="dk1"/>
              </a:buClr>
              <a:buSzPts val="1800"/>
              <a:buChar char="●"/>
            </a:pPr>
            <a:r>
              <a:rPr lang="es-CL" sz="1800">
                <a:solidFill>
                  <a:schemeClr val="dk1"/>
                </a:solidFill>
              </a:rPr>
              <a:t>Asegura estimaciones realistas para cada sprint</a:t>
            </a:r>
            <a:endParaRPr sz="1800">
              <a:solidFill>
                <a:schemeClr val="dk1"/>
              </a:solidFill>
            </a:endParaRPr>
          </a:p>
        </p:txBody>
      </p:sp>
      <p:sp>
        <p:nvSpPr>
          <p:cNvPr id="183" name="Google Shape;183;p6"/>
          <p:cNvSpPr txBox="1"/>
          <p:nvPr/>
        </p:nvSpPr>
        <p:spPr>
          <a:xfrm>
            <a:off x="910325" y="2301000"/>
            <a:ext cx="6999600" cy="1510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100"/>
              <a:buFont typeface="Calibri"/>
              <a:buNone/>
            </a:pPr>
            <a:r>
              <a:rPr lang="es-CL" sz="2100" u="sng">
                <a:solidFill>
                  <a:schemeClr val="dk1"/>
                </a:solidFill>
                <a:latin typeface="Calibri"/>
                <a:ea typeface="Calibri"/>
                <a:cs typeface="Calibri"/>
                <a:sym typeface="Calibri"/>
              </a:rPr>
              <a:t>SCRUM</a:t>
            </a:r>
            <a:endParaRPr sz="2100" u="sng">
              <a:solidFill>
                <a:schemeClr val="dk1"/>
              </a:solidFill>
              <a:latin typeface="Calibri"/>
              <a:ea typeface="Calibri"/>
              <a:cs typeface="Calibri"/>
              <a:sym typeface="Calibri"/>
            </a:endParaRPr>
          </a:p>
          <a:p>
            <a:pPr marL="457200" marR="0" lvl="0" indent="-361950" algn="l" rtl="0">
              <a:spcBef>
                <a:spcPts val="0"/>
              </a:spcBef>
              <a:spcAft>
                <a:spcPts val="0"/>
              </a:spcAft>
              <a:buClr>
                <a:schemeClr val="dk1"/>
              </a:buClr>
              <a:buSzPts val="2100"/>
              <a:buFont typeface="Calibri"/>
              <a:buChar char="●"/>
            </a:pPr>
            <a:r>
              <a:rPr lang="es-CL" sz="2100">
                <a:solidFill>
                  <a:schemeClr val="dk1"/>
                </a:solidFill>
                <a:latin typeface="Calibri"/>
                <a:ea typeface="Calibri"/>
                <a:cs typeface="Calibri"/>
                <a:sym typeface="Calibri"/>
              </a:rPr>
              <a:t>Repartir tareas de manera clara</a:t>
            </a:r>
            <a:endParaRPr sz="2100">
              <a:solidFill>
                <a:schemeClr val="dk1"/>
              </a:solidFill>
              <a:latin typeface="Calibri"/>
              <a:ea typeface="Calibri"/>
              <a:cs typeface="Calibri"/>
              <a:sym typeface="Calibri"/>
            </a:endParaRPr>
          </a:p>
          <a:p>
            <a:pPr marL="457200" marR="0" lvl="0" indent="-361950" algn="l" rtl="0">
              <a:spcBef>
                <a:spcPts val="0"/>
              </a:spcBef>
              <a:spcAft>
                <a:spcPts val="0"/>
              </a:spcAft>
              <a:buClr>
                <a:schemeClr val="dk1"/>
              </a:buClr>
              <a:buSzPts val="2100"/>
              <a:buFont typeface="Calibri"/>
              <a:buChar char="●"/>
            </a:pPr>
            <a:r>
              <a:rPr lang="es-CL" sz="2100">
                <a:solidFill>
                  <a:schemeClr val="dk1"/>
                </a:solidFill>
                <a:latin typeface="Calibri"/>
                <a:ea typeface="Calibri"/>
                <a:cs typeface="Calibri"/>
                <a:sym typeface="Calibri"/>
              </a:rPr>
              <a:t>Priorizar los entregables más importantes</a:t>
            </a:r>
            <a:endParaRPr sz="2100">
              <a:solidFill>
                <a:schemeClr val="dk1"/>
              </a:solidFill>
              <a:latin typeface="Calibri"/>
              <a:ea typeface="Calibri"/>
              <a:cs typeface="Calibri"/>
              <a:sym typeface="Calibri"/>
            </a:endParaRPr>
          </a:p>
          <a:p>
            <a:pPr marL="457200" marR="0" lvl="0" indent="-361950" algn="l" rtl="0">
              <a:spcBef>
                <a:spcPts val="0"/>
              </a:spcBef>
              <a:spcAft>
                <a:spcPts val="0"/>
              </a:spcAft>
              <a:buClr>
                <a:schemeClr val="dk1"/>
              </a:buClr>
              <a:buSzPts val="2100"/>
              <a:buFont typeface="Calibri"/>
              <a:buChar char="●"/>
            </a:pPr>
            <a:r>
              <a:rPr lang="es-CL" sz="2100">
                <a:solidFill>
                  <a:schemeClr val="dk1"/>
                </a:solidFill>
                <a:latin typeface="Calibri"/>
                <a:ea typeface="Calibri"/>
                <a:cs typeface="Calibri"/>
                <a:sym typeface="Calibri"/>
              </a:rPr>
              <a:t>Se ajusta al tiempo real de cada integrante</a:t>
            </a:r>
            <a:endParaRPr sz="2100">
              <a:solidFill>
                <a:schemeClr val="dk1"/>
              </a:solidFill>
              <a:latin typeface="Calibri"/>
              <a:ea typeface="Calibri"/>
              <a:cs typeface="Calibri"/>
              <a:sym typeface="Calibri"/>
            </a:endParaRPr>
          </a:p>
        </p:txBody>
      </p:sp>
      <p:pic>
        <p:nvPicPr>
          <p:cNvPr id="184" name="Google Shape;184;p6"/>
          <p:cNvPicPr preferRelativeResize="0"/>
          <p:nvPr/>
        </p:nvPicPr>
        <p:blipFill>
          <a:blip r:embed="rId5">
            <a:alphaModFix/>
          </a:blip>
          <a:stretch>
            <a:fillRect/>
          </a:stretch>
        </p:blipFill>
        <p:spPr>
          <a:xfrm>
            <a:off x="6736728" y="4354804"/>
            <a:ext cx="2105422" cy="1284501"/>
          </a:xfrm>
          <a:prstGeom prst="rect">
            <a:avLst/>
          </a:prstGeom>
          <a:noFill/>
          <a:ln>
            <a:noFill/>
          </a:ln>
        </p:spPr>
      </p:pic>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89" name="Google Shape;189;p7"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90" name="Google Shape;190;p7"/>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CL" sz="1800" b="0" i="0" u="none" strike="noStrike" cap="none">
                <a:solidFill>
                  <a:srgbClr val="757070"/>
                </a:solidFill>
                <a:latin typeface="Calibri"/>
                <a:ea typeface="Calibri"/>
                <a:cs typeface="Calibri"/>
                <a:sym typeface="Calibri"/>
              </a:rPr>
              <a:t>PROYECTO “</a:t>
            </a:r>
            <a:r>
              <a:rPr lang="es-CL" sz="1800">
                <a:solidFill>
                  <a:srgbClr val="757070"/>
                </a:solidFill>
                <a:latin typeface="Calibri"/>
                <a:ea typeface="Calibri"/>
                <a:cs typeface="Calibri"/>
                <a:sym typeface="Calibri"/>
              </a:rPr>
              <a:t>ConectaPyme</a:t>
            </a:r>
            <a:r>
              <a:rPr lang="es-CL" sz="1800" b="0" i="0" u="none" strike="noStrike" cap="none">
                <a:solidFill>
                  <a:srgbClr val="75707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191" name="Google Shape;191;p7"/>
          <p:cNvSpPr txBox="1"/>
          <p:nvPr/>
        </p:nvSpPr>
        <p:spPr>
          <a:xfrm>
            <a:off x="0" y="943158"/>
            <a:ext cx="12192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s-CL" sz="3600" b="0" i="0" u="none" strike="noStrike" cap="none">
                <a:solidFill>
                  <a:schemeClr val="dk1"/>
                </a:solidFill>
                <a:latin typeface="Calibri"/>
                <a:ea typeface="Calibri"/>
                <a:cs typeface="Calibri"/>
                <a:sym typeface="Calibri"/>
              </a:rPr>
              <a:t>Avance por Sprint</a:t>
            </a:r>
            <a:endParaRPr sz="1800" b="0" i="0" u="none" strike="noStrike" cap="none">
              <a:solidFill>
                <a:schemeClr val="dk1"/>
              </a:solidFill>
              <a:latin typeface="Calibri"/>
              <a:ea typeface="Calibri"/>
              <a:cs typeface="Calibri"/>
              <a:sym typeface="Calibri"/>
            </a:endParaRPr>
          </a:p>
        </p:txBody>
      </p:sp>
      <p:cxnSp>
        <p:nvCxnSpPr>
          <p:cNvPr id="192" name="Google Shape;192;p7"/>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graphicFrame>
        <p:nvGraphicFramePr>
          <p:cNvPr id="193" name="Google Shape;193;p7"/>
          <p:cNvGraphicFramePr/>
          <p:nvPr/>
        </p:nvGraphicFramePr>
        <p:xfrm>
          <a:off x="3039412" y="1674890"/>
          <a:ext cx="6113175" cy="4544400"/>
        </p:xfrm>
        <a:graphic>
          <a:graphicData uri="http://schemas.openxmlformats.org/drawingml/2006/table">
            <a:tbl>
              <a:tblPr>
                <a:noFill/>
                <a:tableStyleId>{266B0138-0642-4518-8C89-E85BDC20D84F}</a:tableStyleId>
              </a:tblPr>
              <a:tblGrid>
                <a:gridCol w="2037725">
                  <a:extLst>
                    <a:ext uri="{9D8B030D-6E8A-4147-A177-3AD203B41FA5}">
                      <a16:colId xmlns:a16="http://schemas.microsoft.com/office/drawing/2014/main" val="20000"/>
                    </a:ext>
                  </a:extLst>
                </a:gridCol>
                <a:gridCol w="2037725">
                  <a:extLst>
                    <a:ext uri="{9D8B030D-6E8A-4147-A177-3AD203B41FA5}">
                      <a16:colId xmlns:a16="http://schemas.microsoft.com/office/drawing/2014/main" val="20001"/>
                    </a:ext>
                  </a:extLst>
                </a:gridCol>
                <a:gridCol w="2037725">
                  <a:extLst>
                    <a:ext uri="{9D8B030D-6E8A-4147-A177-3AD203B41FA5}">
                      <a16:colId xmlns:a16="http://schemas.microsoft.com/office/drawing/2014/main" val="20002"/>
                    </a:ext>
                  </a:extLst>
                </a:gridCol>
              </a:tblGrid>
              <a:tr h="545900">
                <a:tc>
                  <a:txBody>
                    <a:bodyPr/>
                    <a:lstStyle/>
                    <a:p>
                      <a:pPr marL="0" marR="0" lvl="0" indent="0" algn="l" rtl="0">
                        <a:spcBef>
                          <a:spcPts val="0"/>
                        </a:spcBef>
                        <a:spcAft>
                          <a:spcPts val="0"/>
                        </a:spcAft>
                        <a:buClr>
                          <a:srgbClr val="FFFFFF"/>
                        </a:buClr>
                        <a:buSzPts val="900"/>
                        <a:buFont typeface="Calibri"/>
                        <a:buNone/>
                      </a:pPr>
                      <a:r>
                        <a:rPr lang="es-CL" sz="900" u="none" strike="noStrike" cap="none">
                          <a:solidFill>
                            <a:srgbClr val="FFFFFF"/>
                          </a:solidFill>
                        </a:rPr>
                        <a:t>Sprin</a:t>
                      </a:r>
                      <a:r>
                        <a:rPr lang="es-CL" sz="900" u="none" strike="noStrike" cap="none">
                          <a:solidFill>
                            <a:schemeClr val="dk1"/>
                          </a:solidFill>
                        </a:rPr>
                        <a:t>Sprints</a:t>
                      </a:r>
                      <a:endParaRPr sz="900" u="none" strike="noStrike" cap="none">
                        <a:solidFill>
                          <a:schemeClr val="dk1"/>
                        </a:solidFill>
                      </a:endParaRPr>
                    </a:p>
                    <a:p>
                      <a:pPr marL="0" marR="0" lvl="0" indent="0" algn="l" rtl="0">
                        <a:spcBef>
                          <a:spcPts val="0"/>
                        </a:spcBef>
                        <a:spcAft>
                          <a:spcPts val="0"/>
                        </a:spcAft>
                        <a:buClr>
                          <a:schemeClr val="dk1"/>
                        </a:buClr>
                        <a:buSzPts val="900"/>
                        <a:buFont typeface="Calibri"/>
                        <a:buNone/>
                      </a:pPr>
                      <a:endParaRPr sz="900" u="none" strike="noStrike" cap="none">
                        <a:solidFill>
                          <a:schemeClr val="dk1"/>
                        </a:solidFill>
                      </a:endParaRPr>
                    </a:p>
                  </a:txBody>
                  <a:tcPr marL="91425" marR="91425" marT="91425" marB="91425"/>
                </a:tc>
                <a:tc>
                  <a:txBody>
                    <a:bodyPr/>
                    <a:lstStyle/>
                    <a:p>
                      <a:pPr marL="0" marR="0" lvl="0" indent="0" algn="l" rtl="0">
                        <a:spcBef>
                          <a:spcPts val="0"/>
                        </a:spcBef>
                        <a:spcAft>
                          <a:spcPts val="0"/>
                        </a:spcAft>
                        <a:buClr>
                          <a:schemeClr val="dk1"/>
                        </a:buClr>
                        <a:buSzPts val="900"/>
                        <a:buFont typeface="Calibri"/>
                        <a:buNone/>
                      </a:pPr>
                      <a:r>
                        <a:rPr lang="es-CL" sz="900" u="none" strike="noStrike" cap="none">
                          <a:solidFill>
                            <a:schemeClr val="dk1"/>
                          </a:solidFill>
                        </a:rPr>
                        <a:t>Duración</a:t>
                      </a:r>
                      <a:endParaRPr sz="900" u="none" strike="noStrike" cap="none">
                        <a:solidFill>
                          <a:schemeClr val="dk1"/>
                        </a:solidFill>
                      </a:endParaRPr>
                    </a:p>
                  </a:txBody>
                  <a:tcPr marL="91425" marR="91425" marT="91425" marB="91425"/>
                </a:tc>
                <a:tc>
                  <a:txBody>
                    <a:bodyPr/>
                    <a:lstStyle/>
                    <a:p>
                      <a:pPr marL="0" marR="0" lvl="0" indent="0" algn="l" rtl="0">
                        <a:spcBef>
                          <a:spcPts val="0"/>
                        </a:spcBef>
                        <a:spcAft>
                          <a:spcPts val="0"/>
                        </a:spcAft>
                        <a:buClr>
                          <a:schemeClr val="dk1"/>
                        </a:buClr>
                        <a:buSzPts val="900"/>
                        <a:buFont typeface="Calibri"/>
                        <a:buNone/>
                      </a:pPr>
                      <a:r>
                        <a:rPr lang="es-CL" sz="900" u="none" strike="noStrike" cap="none">
                          <a:solidFill>
                            <a:schemeClr val="dk1"/>
                          </a:solidFill>
                        </a:rPr>
                        <a:t>Entregables Principales</a:t>
                      </a:r>
                      <a:endParaRPr sz="900" u="none" strike="noStrike" cap="none">
                        <a:solidFill>
                          <a:schemeClr val="dk1"/>
                        </a:solidFill>
                      </a:endParaRPr>
                    </a:p>
                  </a:txBody>
                  <a:tcPr marL="91425" marR="91425" marT="91425" marB="91425"/>
                </a:tc>
                <a:extLst>
                  <a:ext uri="{0D108BD9-81ED-4DB2-BD59-A6C34878D82A}">
                    <a16:rowId xmlns:a16="http://schemas.microsoft.com/office/drawing/2014/main" val="10000"/>
                  </a:ext>
                </a:extLst>
              </a:tr>
              <a:tr h="898000">
                <a:tc>
                  <a:txBody>
                    <a:bodyPr/>
                    <a:lstStyle/>
                    <a:p>
                      <a:pPr marL="0" marR="0" lvl="0" indent="0" algn="l" rtl="0">
                        <a:spcBef>
                          <a:spcPts val="0"/>
                        </a:spcBef>
                        <a:spcAft>
                          <a:spcPts val="0"/>
                        </a:spcAft>
                        <a:buClr>
                          <a:schemeClr val="dk1"/>
                        </a:buClr>
                        <a:buSzPts val="1600"/>
                        <a:buFont typeface="Calibri"/>
                        <a:buNone/>
                      </a:pPr>
                      <a:r>
                        <a:rPr lang="es-CL" sz="1600" u="none" strike="noStrike" cap="none">
                          <a:solidFill>
                            <a:schemeClr val="dk1"/>
                          </a:solidFill>
                        </a:rPr>
                        <a:t>Sprint 0</a:t>
                      </a:r>
                      <a:endParaRPr sz="1600" u="none" strike="noStrike" cap="none">
                        <a:solidFill>
                          <a:schemeClr val="dk1"/>
                        </a:solidFill>
                      </a:endParaRPr>
                    </a:p>
                  </a:txBody>
                  <a:tcPr marL="91425" marR="91425" marT="91425" marB="91425"/>
                </a:tc>
                <a:tc>
                  <a:txBody>
                    <a:bodyPr/>
                    <a:lstStyle/>
                    <a:p>
                      <a:pPr marL="0" marR="0" lvl="0" indent="0" algn="l" rtl="0">
                        <a:spcBef>
                          <a:spcPts val="0"/>
                        </a:spcBef>
                        <a:spcAft>
                          <a:spcPts val="0"/>
                        </a:spcAft>
                        <a:buClr>
                          <a:schemeClr val="dk1"/>
                        </a:buClr>
                        <a:buSzPts val="1900"/>
                        <a:buFont typeface="Calibri"/>
                        <a:buNone/>
                      </a:pPr>
                      <a:r>
                        <a:rPr lang="es-CL" sz="1900" u="none" strike="noStrike" cap="none">
                          <a:solidFill>
                            <a:schemeClr val="dk1"/>
                          </a:solidFill>
                        </a:rPr>
                        <a:t>3 semana</a:t>
                      </a:r>
                      <a:endParaRPr sz="1900" u="none" strike="noStrike" cap="none">
                        <a:solidFill>
                          <a:schemeClr val="dk1"/>
                        </a:solidFill>
                      </a:endParaRPr>
                    </a:p>
                  </a:txBody>
                  <a:tcPr marL="91425" marR="91425" marT="91425" marB="91425"/>
                </a:tc>
                <a:tc>
                  <a:txBody>
                    <a:bodyPr/>
                    <a:lstStyle/>
                    <a:p>
                      <a:pPr marL="0" marR="0" lvl="0" indent="0" algn="l" rtl="0">
                        <a:spcBef>
                          <a:spcPts val="0"/>
                        </a:spcBef>
                        <a:spcAft>
                          <a:spcPts val="0"/>
                        </a:spcAft>
                        <a:buClr>
                          <a:schemeClr val="dk1"/>
                        </a:buClr>
                        <a:buSzPts val="1200"/>
                        <a:buFont typeface="Calibri"/>
                        <a:buNone/>
                      </a:pPr>
                      <a:r>
                        <a:rPr lang="es-CL" sz="1200" u="none" strike="noStrike" cap="none">
                          <a:solidFill>
                            <a:schemeClr val="dk1"/>
                          </a:solidFill>
                        </a:rPr>
                        <a:t>Configuración inicial (Django, Flutter, SQLite, repositorio, backlog).</a:t>
                      </a:r>
                      <a:endParaRPr sz="1200" u="none" strike="noStrike" cap="none">
                        <a:solidFill>
                          <a:schemeClr val="dk1"/>
                        </a:solidFill>
                      </a:endParaRPr>
                    </a:p>
                  </a:txBody>
                  <a:tcPr marL="91425" marR="91425" marT="91425" marB="91425"/>
                </a:tc>
                <a:extLst>
                  <a:ext uri="{0D108BD9-81ED-4DB2-BD59-A6C34878D82A}">
                    <a16:rowId xmlns:a16="http://schemas.microsoft.com/office/drawing/2014/main" val="10001"/>
                  </a:ext>
                </a:extLst>
              </a:tr>
              <a:tr h="898000">
                <a:tc>
                  <a:txBody>
                    <a:bodyPr/>
                    <a:lstStyle/>
                    <a:p>
                      <a:pPr marL="0" marR="0" lvl="0" indent="0" algn="l" rtl="0">
                        <a:spcBef>
                          <a:spcPts val="0"/>
                        </a:spcBef>
                        <a:spcAft>
                          <a:spcPts val="0"/>
                        </a:spcAft>
                        <a:buClr>
                          <a:schemeClr val="dk1"/>
                        </a:buClr>
                        <a:buSzPts val="1600"/>
                        <a:buFont typeface="Calibri"/>
                        <a:buNone/>
                      </a:pPr>
                      <a:r>
                        <a:rPr lang="es-CL" sz="1600" u="none" strike="noStrike" cap="none">
                          <a:solidFill>
                            <a:schemeClr val="dk1"/>
                          </a:solidFill>
                        </a:rPr>
                        <a:t>Sprint 1</a:t>
                      </a:r>
                      <a:endParaRPr sz="1600" u="none" strike="noStrike" cap="none">
                        <a:solidFill>
                          <a:schemeClr val="dk1"/>
                        </a:solidFill>
                      </a:endParaRPr>
                    </a:p>
                  </a:txBody>
                  <a:tcPr marL="91425" marR="91425" marT="91425" marB="91425"/>
                </a:tc>
                <a:tc>
                  <a:txBody>
                    <a:bodyPr/>
                    <a:lstStyle/>
                    <a:p>
                      <a:pPr marL="0" marR="0" lvl="0" indent="0" algn="l" rtl="0">
                        <a:spcBef>
                          <a:spcPts val="0"/>
                        </a:spcBef>
                        <a:spcAft>
                          <a:spcPts val="0"/>
                        </a:spcAft>
                        <a:buClr>
                          <a:schemeClr val="dk1"/>
                        </a:buClr>
                        <a:buSzPts val="1600"/>
                        <a:buFont typeface="Calibri"/>
                        <a:buNone/>
                      </a:pPr>
                      <a:r>
                        <a:rPr lang="es-CL" sz="1600" u="none" strike="noStrike" cap="none">
                          <a:solidFill>
                            <a:schemeClr val="dk1"/>
                          </a:solidFill>
                        </a:rPr>
                        <a:t>5 semanas</a:t>
                      </a:r>
                      <a:endParaRPr sz="1600" u="none" strike="noStrike" cap="none">
                        <a:solidFill>
                          <a:schemeClr val="dk1"/>
                        </a:solidFill>
                      </a:endParaRPr>
                    </a:p>
                  </a:txBody>
                  <a:tcPr marL="91425" marR="91425" marT="91425" marB="91425"/>
                </a:tc>
                <a:tc>
                  <a:txBody>
                    <a:bodyPr/>
                    <a:lstStyle/>
                    <a:p>
                      <a:pPr marL="0" marR="0" lvl="0" indent="0" algn="l" rtl="0">
                        <a:spcBef>
                          <a:spcPts val="0"/>
                        </a:spcBef>
                        <a:spcAft>
                          <a:spcPts val="0"/>
                        </a:spcAft>
                        <a:buClr>
                          <a:schemeClr val="dk1"/>
                        </a:buClr>
                        <a:buSzPts val="1200"/>
                        <a:buFont typeface="Calibri"/>
                        <a:buNone/>
                      </a:pPr>
                      <a:r>
                        <a:rPr lang="es-CL" sz="1200" u="none" strike="noStrike" cap="none">
                          <a:solidFill>
                            <a:schemeClr val="dk1"/>
                          </a:solidFill>
                        </a:rPr>
                        <a:t>Gestión de usuarios y autenticación, perfiles y productos.</a:t>
                      </a:r>
                      <a:endParaRPr sz="1200" u="none" strike="noStrike" cap="none">
                        <a:solidFill>
                          <a:schemeClr val="dk1"/>
                        </a:solidFill>
                      </a:endParaRPr>
                    </a:p>
                  </a:txBody>
                  <a:tcPr marL="91425" marR="91425" marT="91425" marB="91425"/>
                </a:tc>
                <a:extLst>
                  <a:ext uri="{0D108BD9-81ED-4DB2-BD59-A6C34878D82A}">
                    <a16:rowId xmlns:a16="http://schemas.microsoft.com/office/drawing/2014/main" val="10002"/>
                  </a:ext>
                </a:extLst>
              </a:tr>
              <a:tr h="898000">
                <a:tc>
                  <a:txBody>
                    <a:bodyPr/>
                    <a:lstStyle/>
                    <a:p>
                      <a:pPr marL="0" marR="0" lvl="0" indent="0" algn="l" rtl="0">
                        <a:spcBef>
                          <a:spcPts val="0"/>
                        </a:spcBef>
                        <a:spcAft>
                          <a:spcPts val="0"/>
                        </a:spcAft>
                        <a:buClr>
                          <a:schemeClr val="dk1"/>
                        </a:buClr>
                        <a:buSzPts val="1600"/>
                        <a:buFont typeface="Calibri"/>
                        <a:buNone/>
                      </a:pPr>
                      <a:r>
                        <a:rPr lang="es-CL" sz="1600" u="none" strike="noStrike" cap="none">
                          <a:solidFill>
                            <a:schemeClr val="dk1"/>
                          </a:solidFill>
                        </a:rPr>
                        <a:t>Sprint 2</a:t>
                      </a:r>
                      <a:endParaRPr sz="1600" u="none" strike="noStrike" cap="none">
                        <a:solidFill>
                          <a:schemeClr val="dk1"/>
                        </a:solidFill>
                      </a:endParaRPr>
                    </a:p>
                  </a:txBody>
                  <a:tcPr marL="91425" marR="91425" marT="91425" marB="91425"/>
                </a:tc>
                <a:tc>
                  <a:txBody>
                    <a:bodyPr/>
                    <a:lstStyle/>
                    <a:p>
                      <a:pPr marL="0" marR="0" lvl="0" indent="0" algn="l" rtl="0">
                        <a:spcBef>
                          <a:spcPts val="0"/>
                        </a:spcBef>
                        <a:spcAft>
                          <a:spcPts val="0"/>
                        </a:spcAft>
                        <a:buClr>
                          <a:schemeClr val="dk1"/>
                        </a:buClr>
                        <a:buSzPts val="1600"/>
                        <a:buFont typeface="Calibri"/>
                        <a:buNone/>
                      </a:pPr>
                      <a:r>
                        <a:rPr lang="es-CL" sz="1600" u="none" strike="noStrike" cap="none">
                          <a:solidFill>
                            <a:schemeClr val="dk1"/>
                          </a:solidFill>
                        </a:rPr>
                        <a:t>5 semanas</a:t>
                      </a:r>
                      <a:endParaRPr sz="1600" u="none" strike="noStrike" cap="none">
                        <a:solidFill>
                          <a:schemeClr val="dk1"/>
                        </a:solidFill>
                      </a:endParaRPr>
                    </a:p>
                  </a:txBody>
                  <a:tcPr marL="91425" marR="91425" marT="91425" marB="91425"/>
                </a:tc>
                <a:tc>
                  <a:txBody>
                    <a:bodyPr/>
                    <a:lstStyle/>
                    <a:p>
                      <a:pPr marL="0" marR="0" lvl="0" indent="0" algn="l" rtl="0">
                        <a:spcBef>
                          <a:spcPts val="0"/>
                        </a:spcBef>
                        <a:spcAft>
                          <a:spcPts val="0"/>
                        </a:spcAft>
                        <a:buClr>
                          <a:schemeClr val="dk1"/>
                        </a:buClr>
                        <a:buSzPts val="1200"/>
                        <a:buFont typeface="Calibri"/>
                        <a:buNone/>
                      </a:pPr>
                      <a:r>
                        <a:rPr lang="es-CL" sz="1200" u="none" strike="noStrike" cap="none">
                          <a:solidFill>
                            <a:schemeClr val="dk1"/>
                          </a:solidFill>
                        </a:rPr>
                        <a:t>Interacción y catálogo público, feed social, reseñas, Google Maps, corroboración de pyme/empresa.</a:t>
                      </a:r>
                      <a:endParaRPr sz="1200" u="none" strike="noStrike" cap="none">
                        <a:solidFill>
                          <a:schemeClr val="dk1"/>
                        </a:solidFill>
                      </a:endParaRPr>
                    </a:p>
                  </a:txBody>
                  <a:tcPr marL="91425" marR="91425" marT="91425" marB="91425"/>
                </a:tc>
                <a:extLst>
                  <a:ext uri="{0D108BD9-81ED-4DB2-BD59-A6C34878D82A}">
                    <a16:rowId xmlns:a16="http://schemas.microsoft.com/office/drawing/2014/main" val="10003"/>
                  </a:ext>
                </a:extLst>
              </a:tr>
              <a:tr h="1105250">
                <a:tc>
                  <a:txBody>
                    <a:bodyPr/>
                    <a:lstStyle/>
                    <a:p>
                      <a:pPr marL="0" marR="0" lvl="0" indent="0" algn="l" rtl="0">
                        <a:spcBef>
                          <a:spcPts val="0"/>
                        </a:spcBef>
                        <a:spcAft>
                          <a:spcPts val="0"/>
                        </a:spcAft>
                        <a:buClr>
                          <a:schemeClr val="dk1"/>
                        </a:buClr>
                        <a:buSzPts val="1600"/>
                        <a:buFont typeface="Calibri"/>
                        <a:buNone/>
                      </a:pPr>
                      <a:r>
                        <a:rPr lang="es-CL" sz="1600" u="none" strike="noStrike" cap="none">
                          <a:solidFill>
                            <a:schemeClr val="dk1"/>
                          </a:solidFill>
                        </a:rPr>
                        <a:t>Sprint 3</a:t>
                      </a:r>
                      <a:endParaRPr sz="1600"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chemeClr val="dk1"/>
                        </a:buClr>
                        <a:buSzPts val="1600"/>
                        <a:buFont typeface="Calibri"/>
                        <a:buNone/>
                      </a:pPr>
                      <a:r>
                        <a:rPr lang="es-CL" sz="1600" u="none" strike="noStrike" cap="none">
                          <a:solidFill>
                            <a:schemeClr val="dk1"/>
                          </a:solidFill>
                        </a:rPr>
                        <a:t>5 semanas</a:t>
                      </a:r>
                      <a:endParaRPr sz="1600" u="none" strike="noStrike" cap="none">
                        <a:solidFill>
                          <a:schemeClr val="dk1"/>
                        </a:solidFill>
                      </a:endParaRPr>
                    </a:p>
                  </a:txBody>
                  <a:tcPr marL="91425" marR="91425" marT="91425" marB="91425"/>
                </a:tc>
                <a:tc>
                  <a:txBody>
                    <a:bodyPr/>
                    <a:lstStyle/>
                    <a:p>
                      <a:pPr marL="0" marR="0" lvl="0" indent="0" algn="l" rtl="0">
                        <a:spcBef>
                          <a:spcPts val="0"/>
                        </a:spcBef>
                        <a:spcAft>
                          <a:spcPts val="0"/>
                        </a:spcAft>
                        <a:buClr>
                          <a:schemeClr val="dk1"/>
                        </a:buClr>
                        <a:buSzPts val="1200"/>
                        <a:buFont typeface="Calibri"/>
                        <a:buNone/>
                      </a:pPr>
                      <a:r>
                        <a:rPr lang="es-CL" sz="1200" u="none" strike="noStrike" cap="none">
                          <a:solidFill>
                            <a:schemeClr val="dk1"/>
                          </a:solidFill>
                        </a:rPr>
                        <a:t>Mensajería privada, notificaciones en tiempo real.</a:t>
                      </a:r>
                      <a:endParaRPr sz="1200" u="none" strike="noStrike" cap="none">
                        <a:solidFill>
                          <a:schemeClr val="dk1"/>
                        </a:solidFill>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p5"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68" name="Google Shape;168;p5"/>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CL" sz="1800" b="0" i="0" u="none" strike="noStrike" cap="none">
                <a:solidFill>
                  <a:srgbClr val="757070"/>
                </a:solidFill>
                <a:latin typeface="Calibri"/>
                <a:ea typeface="Calibri"/>
                <a:cs typeface="Calibri"/>
                <a:sym typeface="Calibri"/>
              </a:rPr>
              <a:t>PROYECTO “</a:t>
            </a:r>
            <a:r>
              <a:rPr lang="es-CL" sz="1800">
                <a:solidFill>
                  <a:srgbClr val="757070"/>
                </a:solidFill>
                <a:latin typeface="Calibri"/>
                <a:ea typeface="Calibri"/>
                <a:cs typeface="Calibri"/>
                <a:sym typeface="Calibri"/>
              </a:rPr>
              <a:t>ConectaPyme</a:t>
            </a:r>
            <a:r>
              <a:rPr lang="es-CL" sz="1800" b="0" i="0" u="none" strike="noStrike" cap="none">
                <a:solidFill>
                  <a:srgbClr val="75707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169" name="Google Shape;169;p5"/>
          <p:cNvSpPr txBox="1"/>
          <p:nvPr/>
        </p:nvSpPr>
        <p:spPr>
          <a:xfrm>
            <a:off x="0" y="992905"/>
            <a:ext cx="12192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s-CL" sz="3600" b="0" i="0" u="none" strike="noStrike" cap="none">
                <a:solidFill>
                  <a:schemeClr val="dk1"/>
                </a:solidFill>
                <a:latin typeface="Calibri"/>
                <a:ea typeface="Calibri"/>
                <a:cs typeface="Calibri"/>
                <a:sym typeface="Calibri"/>
              </a:rPr>
              <a:t>Alcances y limitaciones del proyecto</a:t>
            </a:r>
            <a:endParaRPr sz="1400" b="0" i="0" u="none" strike="noStrike" cap="none">
              <a:solidFill>
                <a:srgbClr val="000000"/>
              </a:solidFill>
              <a:latin typeface="Arial"/>
              <a:ea typeface="Arial"/>
              <a:cs typeface="Arial"/>
              <a:sym typeface="Arial"/>
            </a:endParaRPr>
          </a:p>
        </p:txBody>
      </p:sp>
      <p:cxnSp>
        <p:nvCxnSpPr>
          <p:cNvPr id="170" name="Google Shape;170;p5"/>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71" name="Google Shape;171;p5"/>
          <p:cNvSpPr txBox="1"/>
          <p:nvPr/>
        </p:nvSpPr>
        <p:spPr>
          <a:xfrm>
            <a:off x="519385" y="1842373"/>
            <a:ext cx="5164500" cy="4257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200"/>
              </a:spcBef>
              <a:spcAft>
                <a:spcPts val="0"/>
              </a:spcAft>
              <a:buClr>
                <a:schemeClr val="dk1"/>
              </a:buClr>
              <a:buSzPts val="1800"/>
              <a:buFont typeface="Calibri"/>
              <a:buNone/>
            </a:pPr>
            <a:r>
              <a:rPr lang="es-CL" sz="1800" b="1">
                <a:solidFill>
                  <a:schemeClr val="dk1"/>
                </a:solidFill>
                <a:latin typeface="Calibri"/>
                <a:ea typeface="Calibri"/>
                <a:cs typeface="Calibri"/>
                <a:sym typeface="Calibri"/>
              </a:rPr>
              <a:t>Alcances:</a:t>
            </a:r>
            <a:endParaRPr sz="1800" b="1">
              <a:solidFill>
                <a:schemeClr val="dk1"/>
              </a:solidFill>
              <a:latin typeface="Calibri"/>
              <a:ea typeface="Calibri"/>
              <a:cs typeface="Calibri"/>
              <a:sym typeface="Calibri"/>
            </a:endParaRPr>
          </a:p>
          <a:p>
            <a:pPr marL="457200" marR="0" lvl="0" indent="-323850" algn="l" rtl="0">
              <a:lnSpc>
                <a:spcPct val="115000"/>
              </a:lnSpc>
              <a:spcBef>
                <a:spcPts val="120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Registro de Pymes y distribuidores con perfil empresarial.</a:t>
            </a:r>
            <a:endParaRPr sz="1500">
              <a:solidFill>
                <a:schemeClr val="dk1"/>
              </a:solidFill>
              <a:latin typeface="Calibri"/>
              <a:ea typeface="Calibri"/>
              <a:cs typeface="Calibri"/>
              <a:sym typeface="Calibri"/>
            </a:endParaRPr>
          </a:p>
          <a:p>
            <a:pPr marL="457200" marR="0" lvl="0" indent="-323850" algn="l" rtl="0">
              <a:lnSpc>
                <a:spcPct val="115000"/>
              </a:lnSpc>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Creación y actualización del catálogo de productos de la empresa.</a:t>
            </a:r>
            <a:endParaRPr sz="1500">
              <a:solidFill>
                <a:schemeClr val="dk1"/>
              </a:solidFill>
              <a:latin typeface="Calibri"/>
              <a:ea typeface="Calibri"/>
              <a:cs typeface="Calibri"/>
              <a:sym typeface="Calibri"/>
            </a:endParaRPr>
          </a:p>
          <a:p>
            <a:pPr marL="457200" marR="0" lvl="0" indent="-323850" algn="l" rtl="0">
              <a:lnSpc>
                <a:spcPct val="115000"/>
              </a:lnSpc>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Verificación de empresas con SII para aumentar la confianza.</a:t>
            </a:r>
            <a:endParaRPr sz="1500">
              <a:solidFill>
                <a:schemeClr val="dk1"/>
              </a:solidFill>
              <a:latin typeface="Calibri"/>
              <a:ea typeface="Calibri"/>
              <a:cs typeface="Calibri"/>
              <a:sym typeface="Calibri"/>
            </a:endParaRPr>
          </a:p>
          <a:p>
            <a:pPr marL="457200" marR="0" lvl="0" indent="-323850" algn="l" rtl="0">
              <a:lnSpc>
                <a:spcPct val="115000"/>
              </a:lnSpc>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Sistema de mensajería en tiempo real entre empresas.</a:t>
            </a:r>
            <a:endParaRPr sz="1500">
              <a:solidFill>
                <a:schemeClr val="dk1"/>
              </a:solidFill>
              <a:latin typeface="Calibri"/>
              <a:ea typeface="Calibri"/>
              <a:cs typeface="Calibri"/>
              <a:sym typeface="Calibri"/>
            </a:endParaRPr>
          </a:p>
          <a:p>
            <a:pPr marL="457200" marR="0" lvl="0" indent="-323850" algn="l" rtl="0">
              <a:lnSpc>
                <a:spcPct val="115000"/>
              </a:lnSpc>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Apartado de reseñas y valoraciones del desempeño.</a:t>
            </a:r>
            <a:endParaRPr sz="1500">
              <a:solidFill>
                <a:schemeClr val="dk1"/>
              </a:solidFill>
              <a:latin typeface="Calibri"/>
              <a:ea typeface="Calibri"/>
              <a:cs typeface="Calibri"/>
              <a:sym typeface="Calibri"/>
            </a:endParaRPr>
          </a:p>
          <a:p>
            <a:pPr marL="457200" marR="0" lvl="0" indent="-323850" algn="l" rtl="0">
              <a:lnSpc>
                <a:spcPct val="115000"/>
              </a:lnSpc>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Búsqueda de empresas mediante filtros (rubro, tipo, etc.).</a:t>
            </a:r>
            <a:endParaRPr sz="1500">
              <a:solidFill>
                <a:schemeClr val="dk1"/>
              </a:solidFill>
              <a:latin typeface="Calibri"/>
              <a:ea typeface="Calibri"/>
              <a:cs typeface="Calibri"/>
              <a:sym typeface="Calibri"/>
            </a:endParaRPr>
          </a:p>
          <a:p>
            <a:pPr marL="457200" marR="0" lvl="0" indent="-323850" algn="l" rtl="0">
              <a:lnSpc>
                <a:spcPct val="115000"/>
              </a:lnSpc>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Comparación de productos entre pymes y distribuidores.</a:t>
            </a:r>
            <a:endParaRPr sz="1500">
              <a:solidFill>
                <a:schemeClr val="dk1"/>
              </a:solidFill>
              <a:latin typeface="Calibri"/>
              <a:ea typeface="Calibri"/>
              <a:cs typeface="Calibri"/>
              <a:sym typeface="Calibri"/>
            </a:endParaRPr>
          </a:p>
          <a:p>
            <a:pPr marL="457200" marR="0" lvl="0" indent="-323850" algn="l" rtl="0">
              <a:lnSpc>
                <a:spcPct val="115000"/>
              </a:lnSpc>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Ubicación de las empresas mediante integración con Google Maps.</a:t>
            </a:r>
            <a:endParaRPr sz="1500">
              <a:solidFill>
                <a:schemeClr val="dk1"/>
              </a:solidFill>
              <a:latin typeface="Calibri"/>
              <a:ea typeface="Calibri"/>
              <a:cs typeface="Calibri"/>
              <a:sym typeface="Calibri"/>
            </a:endParaRPr>
          </a:p>
          <a:p>
            <a:pPr marL="457200" marR="0" lvl="0" indent="0" algn="l" rtl="0">
              <a:spcBef>
                <a:spcPts val="1200"/>
              </a:spcBef>
              <a:spcAft>
                <a:spcPts val="0"/>
              </a:spcAft>
              <a:buClr>
                <a:schemeClr val="dk1"/>
              </a:buClr>
              <a:buSzPts val="1700"/>
              <a:buFont typeface="Calibri"/>
              <a:buNone/>
            </a:pPr>
            <a:endParaRPr sz="1700">
              <a:solidFill>
                <a:schemeClr val="dk1"/>
              </a:solidFill>
              <a:latin typeface="Calibri"/>
              <a:ea typeface="Calibri"/>
              <a:cs typeface="Calibri"/>
              <a:sym typeface="Calibri"/>
            </a:endParaRPr>
          </a:p>
          <a:p>
            <a:pPr marL="457200" marR="0" lvl="0" indent="0" algn="l" rtl="0">
              <a:spcBef>
                <a:spcPts val="0"/>
              </a:spcBef>
              <a:spcAft>
                <a:spcPts val="0"/>
              </a:spcAft>
              <a:buClr>
                <a:schemeClr val="dk1"/>
              </a:buClr>
              <a:buSzPts val="1700"/>
              <a:buFont typeface="Calibri"/>
              <a:buNone/>
            </a:pPr>
            <a:endParaRPr sz="17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700"/>
              <a:buFont typeface="Calibri"/>
              <a:buNone/>
            </a:pPr>
            <a:endParaRPr sz="17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700"/>
              <a:buFont typeface="Calibri"/>
              <a:buNone/>
            </a:pPr>
            <a:endParaRPr sz="17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700"/>
              <a:buFont typeface="Calibri"/>
              <a:buNone/>
            </a:pPr>
            <a:endParaRPr sz="17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700"/>
              <a:buFont typeface="Calibri"/>
              <a:buNone/>
            </a:pPr>
            <a:endParaRPr sz="17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700"/>
              <a:buFont typeface="Calibri"/>
              <a:buNone/>
            </a:pPr>
            <a:endParaRPr sz="17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700"/>
              <a:buFont typeface="Calibri"/>
              <a:buNone/>
            </a:pPr>
            <a:endParaRPr sz="17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700"/>
              <a:buFont typeface="Calibri"/>
              <a:buNone/>
            </a:pPr>
            <a:endParaRPr sz="17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700"/>
              <a:buFont typeface="Calibri"/>
              <a:buNone/>
            </a:pPr>
            <a:endParaRPr sz="1700">
              <a:solidFill>
                <a:schemeClr val="dk1"/>
              </a:solidFill>
              <a:latin typeface="Calibri"/>
              <a:ea typeface="Calibri"/>
              <a:cs typeface="Calibri"/>
              <a:sym typeface="Calibri"/>
            </a:endParaRPr>
          </a:p>
        </p:txBody>
      </p:sp>
      <p:sp>
        <p:nvSpPr>
          <p:cNvPr id="172" name="Google Shape;172;p5"/>
          <p:cNvSpPr txBox="1"/>
          <p:nvPr/>
        </p:nvSpPr>
        <p:spPr>
          <a:xfrm>
            <a:off x="5982945" y="1639405"/>
            <a:ext cx="5164500" cy="4257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400"/>
              </a:spcBef>
              <a:spcAft>
                <a:spcPts val="0"/>
              </a:spcAft>
              <a:buClr>
                <a:schemeClr val="dk1"/>
              </a:buClr>
              <a:buSzPts val="1300"/>
              <a:buFont typeface="Calibri"/>
              <a:buNone/>
            </a:pPr>
            <a:r>
              <a:rPr lang="es-CL" sz="1300" b="1">
                <a:solidFill>
                  <a:schemeClr val="dk1"/>
                </a:solidFill>
                <a:latin typeface="Calibri"/>
                <a:ea typeface="Calibri"/>
                <a:cs typeface="Calibri"/>
                <a:sym typeface="Calibri"/>
              </a:rPr>
              <a:t>Limitaciones:</a:t>
            </a:r>
            <a:endParaRPr sz="1300" b="1">
              <a:solidFill>
                <a:schemeClr val="dk1"/>
              </a:solidFill>
              <a:latin typeface="Calibri"/>
              <a:ea typeface="Calibri"/>
              <a:cs typeface="Calibri"/>
              <a:sym typeface="Calibri"/>
            </a:endParaRPr>
          </a:p>
          <a:p>
            <a:pPr marL="457200" marR="0" lvl="0" indent="-323850" algn="l" rtl="0">
              <a:lnSpc>
                <a:spcPct val="150000"/>
              </a:lnSpc>
              <a:spcBef>
                <a:spcPts val="120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Plataforma gratuita durante esta etapa</a:t>
            </a:r>
            <a:endParaRPr sz="1500">
              <a:solidFill>
                <a:schemeClr val="dk1"/>
              </a:solidFill>
              <a:latin typeface="Calibri"/>
              <a:ea typeface="Calibri"/>
              <a:cs typeface="Calibri"/>
              <a:sym typeface="Calibri"/>
            </a:endParaRPr>
          </a:p>
          <a:p>
            <a:pPr marL="457200" marR="0" lvl="0" indent="-323850" algn="l" rtl="0">
              <a:lnSpc>
                <a:spcPct val="150000"/>
              </a:lnSpc>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Versión piloto limitada a 250 empresas</a:t>
            </a:r>
            <a:endParaRPr sz="1500">
              <a:solidFill>
                <a:schemeClr val="dk1"/>
              </a:solidFill>
              <a:latin typeface="Calibri"/>
              <a:ea typeface="Calibri"/>
              <a:cs typeface="Calibri"/>
              <a:sym typeface="Calibri"/>
            </a:endParaRPr>
          </a:p>
          <a:p>
            <a:pPr marL="457200" marR="0" lvl="0" indent="-323850" algn="l" rtl="0">
              <a:lnSpc>
                <a:spcPct val="150000"/>
              </a:lnSpc>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El Inventario es gestionado por cada empresa.</a:t>
            </a:r>
            <a:endParaRPr sz="1500">
              <a:solidFill>
                <a:schemeClr val="dk1"/>
              </a:solidFill>
              <a:latin typeface="Calibri"/>
              <a:ea typeface="Calibri"/>
              <a:cs typeface="Calibri"/>
              <a:sym typeface="Calibri"/>
            </a:endParaRPr>
          </a:p>
          <a:p>
            <a:pPr marL="457200" marR="0" lvl="0" indent="-323850" algn="l" rtl="0">
              <a:lnSpc>
                <a:spcPct val="150000"/>
              </a:lnSpc>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Cobertura solo en Región Metropolitana</a:t>
            </a:r>
            <a:r>
              <a:rPr lang="es-CL" sz="1500" b="1">
                <a:solidFill>
                  <a:schemeClr val="dk1"/>
                </a:solidFill>
                <a:latin typeface="Calibri"/>
                <a:ea typeface="Calibri"/>
                <a:cs typeface="Calibri"/>
                <a:sym typeface="Calibri"/>
              </a:rPr>
              <a:t>.</a:t>
            </a:r>
            <a:endParaRPr sz="1500">
              <a:solidFill>
                <a:schemeClr val="dk1"/>
              </a:solidFill>
              <a:latin typeface="Calibri"/>
              <a:ea typeface="Calibri"/>
              <a:cs typeface="Calibri"/>
              <a:sym typeface="Calibri"/>
            </a:endParaRPr>
          </a:p>
          <a:p>
            <a:pPr marL="457200" marR="0" lvl="0" indent="-323850" algn="l" rtl="0">
              <a:lnSpc>
                <a:spcPct val="150000"/>
              </a:lnSpc>
              <a:spcBef>
                <a:spcPts val="0"/>
              </a:spcBef>
              <a:spcAft>
                <a:spcPts val="0"/>
              </a:spcAft>
              <a:buClr>
                <a:schemeClr val="dk1"/>
              </a:buClr>
              <a:buSzPts val="1500"/>
              <a:buFont typeface="Calibri"/>
              <a:buChar char="●"/>
            </a:pPr>
            <a:r>
              <a:rPr lang="es-CL" sz="1500" b="1">
                <a:solidFill>
                  <a:schemeClr val="dk1"/>
                </a:solidFill>
                <a:latin typeface="Calibri"/>
                <a:ea typeface="Calibri"/>
                <a:cs typeface="Calibri"/>
                <a:sym typeface="Calibri"/>
              </a:rPr>
              <a:t>No somos una pasarela de pago</a:t>
            </a:r>
            <a:br>
              <a:rPr lang="es-CL" sz="1500" b="1">
                <a:solidFill>
                  <a:schemeClr val="dk1"/>
                </a:solidFill>
                <a:latin typeface="Calibri"/>
                <a:ea typeface="Calibri"/>
                <a:cs typeface="Calibri"/>
                <a:sym typeface="Calibri"/>
              </a:rPr>
            </a:br>
            <a:r>
              <a:rPr lang="es-CL" sz="1500">
                <a:solidFill>
                  <a:schemeClr val="dk1"/>
                </a:solidFill>
                <a:latin typeface="Calibri"/>
                <a:ea typeface="Calibri"/>
                <a:cs typeface="Calibri"/>
                <a:sym typeface="Calibri"/>
              </a:rPr>
              <a:t>ConectaPyme no procesa pagos.</a:t>
            </a:r>
            <a:endParaRPr sz="1500">
              <a:solidFill>
                <a:schemeClr val="dk1"/>
              </a:solidFill>
              <a:latin typeface="Calibri"/>
              <a:ea typeface="Calibri"/>
              <a:cs typeface="Calibri"/>
              <a:sym typeface="Calibri"/>
            </a:endParaRPr>
          </a:p>
          <a:p>
            <a:pPr marL="457200" marR="0" lvl="0" indent="-323850" algn="l" rtl="0">
              <a:lnSpc>
                <a:spcPct val="150000"/>
              </a:lnSpc>
              <a:spcBef>
                <a:spcPts val="0"/>
              </a:spcBef>
              <a:spcAft>
                <a:spcPts val="0"/>
              </a:spcAft>
              <a:buClr>
                <a:schemeClr val="dk1"/>
              </a:buClr>
              <a:buSzPts val="1500"/>
              <a:buFont typeface="Calibri"/>
              <a:buChar char="●"/>
            </a:pPr>
            <a:r>
              <a:rPr lang="es-CL" sz="1500" b="1">
                <a:solidFill>
                  <a:schemeClr val="dk1"/>
                </a:solidFill>
                <a:latin typeface="Calibri"/>
                <a:ea typeface="Calibri"/>
                <a:cs typeface="Calibri"/>
                <a:sym typeface="Calibri"/>
              </a:rPr>
              <a:t>Límite de verificación con SimpleAPI</a:t>
            </a:r>
            <a:br>
              <a:rPr lang="es-CL" sz="1500" b="1">
                <a:solidFill>
                  <a:schemeClr val="dk1"/>
                </a:solidFill>
                <a:latin typeface="Calibri"/>
                <a:ea typeface="Calibri"/>
                <a:cs typeface="Calibri"/>
                <a:sym typeface="Calibri"/>
              </a:rPr>
            </a:br>
            <a:r>
              <a:rPr lang="es-CL" sz="1500">
                <a:solidFill>
                  <a:schemeClr val="dk1"/>
                </a:solidFill>
                <a:latin typeface="Calibri"/>
                <a:ea typeface="Calibri"/>
                <a:cs typeface="Calibri"/>
                <a:sym typeface="Calibri"/>
              </a:rPr>
              <a:t>La API actual solo permite verificar hasta </a:t>
            </a:r>
            <a:r>
              <a:rPr lang="es-CL" sz="1500" b="1">
                <a:solidFill>
                  <a:schemeClr val="dk1"/>
                </a:solidFill>
                <a:latin typeface="Calibri"/>
                <a:ea typeface="Calibri"/>
                <a:cs typeface="Calibri"/>
                <a:sym typeface="Calibri"/>
              </a:rPr>
              <a:t>10 empresas por día</a:t>
            </a:r>
            <a:r>
              <a:rPr lang="es-CL" sz="1500">
                <a:solidFill>
                  <a:schemeClr val="dk1"/>
                </a:solidFill>
                <a:latin typeface="Calibri"/>
                <a:ea typeface="Calibri"/>
                <a:cs typeface="Calibri"/>
                <a:sym typeface="Calibri"/>
              </a:rPr>
              <a:t> frente al SII, lo que restringe la validación masiva de perfiles.</a:t>
            </a:r>
            <a:endParaRPr sz="1500">
              <a:solidFill>
                <a:schemeClr val="dk1"/>
              </a:solidFill>
              <a:latin typeface="Calibri"/>
              <a:ea typeface="Calibri"/>
              <a:cs typeface="Calibri"/>
              <a:sym typeface="Calibri"/>
            </a:endParaRPr>
          </a:p>
          <a:p>
            <a:pPr marL="457200" marR="0" lvl="0" indent="-311150" algn="l" rtl="0">
              <a:lnSpc>
                <a:spcPct val="150000"/>
              </a:lnSpc>
              <a:spcBef>
                <a:spcPts val="0"/>
              </a:spcBef>
              <a:spcAft>
                <a:spcPts val="0"/>
              </a:spcAft>
              <a:buClr>
                <a:schemeClr val="dk1"/>
              </a:buClr>
              <a:buSzPts val="1300"/>
              <a:buFont typeface="Calibri"/>
              <a:buChar char="●"/>
            </a:pPr>
            <a:r>
              <a:rPr lang="es-CL" sz="1500">
                <a:solidFill>
                  <a:schemeClr val="dk1"/>
                </a:solidFill>
                <a:latin typeface="Calibri"/>
                <a:ea typeface="Calibri"/>
                <a:cs typeface="Calibri"/>
                <a:sym typeface="Calibri"/>
              </a:rPr>
              <a:t>Solo soporta Android</a:t>
            </a:r>
            <a:br>
              <a:rPr lang="es-CL" sz="1300" b="1">
                <a:solidFill>
                  <a:schemeClr val="dk1"/>
                </a:solidFill>
                <a:latin typeface="Calibri"/>
                <a:ea typeface="Calibri"/>
                <a:cs typeface="Calibri"/>
                <a:sym typeface="Calibri"/>
              </a:rPr>
            </a:br>
            <a:endParaRPr sz="1300">
              <a:solidFill>
                <a:schemeClr val="dk1"/>
              </a:solidFill>
              <a:latin typeface="Calibri"/>
              <a:ea typeface="Calibri"/>
              <a:cs typeface="Calibri"/>
              <a:sym typeface="Calibri"/>
            </a:endParaRPr>
          </a:p>
          <a:p>
            <a:pPr marL="457200" marR="0" lvl="0" indent="0" algn="just" rtl="0">
              <a:lnSpc>
                <a:spcPct val="115000"/>
              </a:lnSpc>
              <a:spcBef>
                <a:spcPts val="120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pic>
        <p:nvPicPr>
          <p:cNvPr id="198" name="Google Shape;198;p9"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99" name="Google Shape;199;p9"/>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CL" sz="1800" b="0" i="0" u="none" strike="noStrike" cap="none">
                <a:solidFill>
                  <a:srgbClr val="757070"/>
                </a:solidFill>
                <a:latin typeface="Calibri"/>
                <a:ea typeface="Calibri"/>
                <a:cs typeface="Calibri"/>
                <a:sym typeface="Calibri"/>
              </a:rPr>
              <a:t>PROYECTO “</a:t>
            </a:r>
            <a:r>
              <a:rPr lang="es-CL" sz="1800">
                <a:solidFill>
                  <a:srgbClr val="757070"/>
                </a:solidFill>
                <a:latin typeface="Calibri"/>
                <a:ea typeface="Calibri"/>
                <a:cs typeface="Calibri"/>
                <a:sym typeface="Calibri"/>
              </a:rPr>
              <a:t>ConectaPyme</a:t>
            </a:r>
            <a:r>
              <a:rPr lang="es-CL" sz="1800" b="0" i="0" u="none" strike="noStrike" cap="none">
                <a:solidFill>
                  <a:srgbClr val="75707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200" name="Google Shape;200;p9"/>
          <p:cNvSpPr txBox="1"/>
          <p:nvPr/>
        </p:nvSpPr>
        <p:spPr>
          <a:xfrm>
            <a:off x="260575" y="1432651"/>
            <a:ext cx="12192000" cy="861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s-CL" sz="3600" b="0" i="0" u="none" strike="noStrike" cap="none">
                <a:solidFill>
                  <a:schemeClr val="dk1"/>
                </a:solidFill>
                <a:latin typeface="Calibri"/>
                <a:ea typeface="Calibri"/>
                <a:cs typeface="Calibri"/>
                <a:sym typeface="Calibri"/>
              </a:rPr>
              <a:t>Arquitectura del software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p:txBody>
      </p:sp>
      <p:cxnSp>
        <p:nvCxnSpPr>
          <p:cNvPr id="201" name="Google Shape;201;p9"/>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202" name="Google Shape;202;p9"/>
          <p:cNvPicPr preferRelativeResize="0"/>
          <p:nvPr/>
        </p:nvPicPr>
        <p:blipFill rotWithShape="1">
          <a:blip r:embed="rId4">
            <a:alphaModFix/>
          </a:blip>
          <a:srcRect/>
          <a:stretch/>
        </p:blipFill>
        <p:spPr>
          <a:xfrm>
            <a:off x="1812585" y="2139507"/>
            <a:ext cx="8839204" cy="3811043"/>
          </a:xfrm>
          <a:prstGeom prst="rect">
            <a:avLst/>
          </a:prstGeom>
          <a:noFill/>
          <a:ln>
            <a:noFill/>
          </a:ln>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10"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08" name="Google Shape;208;p10"/>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CL" sz="1800" b="0" i="0" u="none" strike="noStrike" cap="none">
                <a:solidFill>
                  <a:srgbClr val="757070"/>
                </a:solidFill>
                <a:latin typeface="Calibri"/>
                <a:ea typeface="Calibri"/>
                <a:cs typeface="Calibri"/>
                <a:sym typeface="Calibri"/>
              </a:rPr>
              <a:t>PROYECTO “</a:t>
            </a:r>
            <a:r>
              <a:rPr lang="es-CL" sz="1800">
                <a:solidFill>
                  <a:srgbClr val="757070"/>
                </a:solidFill>
                <a:latin typeface="Calibri"/>
                <a:ea typeface="Calibri"/>
                <a:cs typeface="Calibri"/>
                <a:sym typeface="Calibri"/>
              </a:rPr>
              <a:t>ConectaPyme</a:t>
            </a:r>
            <a:r>
              <a:rPr lang="es-CL" sz="1800" b="0" i="0" u="none" strike="noStrike" cap="none">
                <a:solidFill>
                  <a:srgbClr val="75707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209" name="Google Shape;209;p10"/>
          <p:cNvSpPr txBox="1"/>
          <p:nvPr/>
        </p:nvSpPr>
        <p:spPr>
          <a:xfrm>
            <a:off x="0" y="1432655"/>
            <a:ext cx="12191999"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s-CL" sz="3600" b="0" i="0" u="none" strike="noStrike" cap="none">
                <a:solidFill>
                  <a:schemeClr val="dk1"/>
                </a:solidFill>
                <a:latin typeface="Calibri"/>
                <a:ea typeface="Calibri"/>
                <a:cs typeface="Calibri"/>
                <a:sym typeface="Calibri"/>
              </a:rPr>
              <a:t>Tecnologías utilizadas</a:t>
            </a:r>
            <a:endParaRPr sz="1400" b="0" i="0" u="none" strike="noStrike" cap="none">
              <a:solidFill>
                <a:srgbClr val="000000"/>
              </a:solidFill>
              <a:latin typeface="Arial"/>
              <a:ea typeface="Arial"/>
              <a:cs typeface="Arial"/>
              <a:sym typeface="Arial"/>
            </a:endParaRPr>
          </a:p>
        </p:txBody>
      </p:sp>
      <p:cxnSp>
        <p:nvCxnSpPr>
          <p:cNvPr id="210" name="Google Shape;210;p10"/>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211" name="Google Shape;211;p10"/>
          <p:cNvPicPr preferRelativeResize="0"/>
          <p:nvPr/>
        </p:nvPicPr>
        <p:blipFill rotWithShape="1">
          <a:blip r:embed="rId4">
            <a:alphaModFix/>
          </a:blip>
          <a:srcRect/>
          <a:stretch/>
        </p:blipFill>
        <p:spPr>
          <a:xfrm>
            <a:off x="908350" y="2567688"/>
            <a:ext cx="2943174" cy="1722625"/>
          </a:xfrm>
          <a:prstGeom prst="rect">
            <a:avLst/>
          </a:prstGeom>
          <a:noFill/>
          <a:ln>
            <a:noFill/>
          </a:ln>
        </p:spPr>
      </p:pic>
      <p:pic>
        <p:nvPicPr>
          <p:cNvPr id="212" name="Google Shape;212;p10"/>
          <p:cNvPicPr preferRelativeResize="0"/>
          <p:nvPr/>
        </p:nvPicPr>
        <p:blipFill rotWithShape="1">
          <a:blip r:embed="rId5">
            <a:alphaModFix/>
          </a:blip>
          <a:srcRect/>
          <a:stretch/>
        </p:blipFill>
        <p:spPr>
          <a:xfrm>
            <a:off x="4885975" y="2587599"/>
            <a:ext cx="2692449" cy="1682800"/>
          </a:xfrm>
          <a:prstGeom prst="rect">
            <a:avLst/>
          </a:prstGeom>
          <a:noFill/>
          <a:ln>
            <a:noFill/>
          </a:ln>
        </p:spPr>
      </p:pic>
      <p:pic>
        <p:nvPicPr>
          <p:cNvPr id="213" name="Google Shape;213;p10"/>
          <p:cNvPicPr preferRelativeResize="0"/>
          <p:nvPr/>
        </p:nvPicPr>
        <p:blipFill rotWithShape="1">
          <a:blip r:embed="rId6">
            <a:alphaModFix/>
          </a:blip>
          <a:srcRect/>
          <a:stretch/>
        </p:blipFill>
        <p:spPr>
          <a:xfrm>
            <a:off x="8612875" y="2703114"/>
            <a:ext cx="2692451" cy="1451773"/>
          </a:xfrm>
          <a:prstGeom prst="rect">
            <a:avLst/>
          </a:prstGeom>
          <a:noFill/>
          <a:ln>
            <a:noFill/>
          </a:ln>
        </p:spPr>
      </p:pic>
      <p:pic>
        <p:nvPicPr>
          <p:cNvPr id="214" name="Google Shape;214;p10"/>
          <p:cNvPicPr preferRelativeResize="0"/>
          <p:nvPr/>
        </p:nvPicPr>
        <p:blipFill rotWithShape="1">
          <a:blip r:embed="rId7">
            <a:alphaModFix/>
          </a:blip>
          <a:srcRect/>
          <a:stretch/>
        </p:blipFill>
        <p:spPr>
          <a:xfrm>
            <a:off x="4532501" y="4636425"/>
            <a:ext cx="3399400" cy="1607926"/>
          </a:xfrm>
          <a:prstGeom prst="rect">
            <a:avLst/>
          </a:prstGeom>
          <a:noFill/>
          <a:ln>
            <a:noFill/>
          </a:ln>
        </p:spPr>
      </p:pic>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11"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20" name="Google Shape;220;p11"/>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CL" sz="1800" b="0" i="0" u="none" strike="noStrike" cap="none">
                <a:solidFill>
                  <a:srgbClr val="757070"/>
                </a:solidFill>
                <a:latin typeface="Calibri"/>
                <a:ea typeface="Calibri"/>
                <a:cs typeface="Calibri"/>
                <a:sym typeface="Calibri"/>
              </a:rPr>
              <a:t>PROYECTO “</a:t>
            </a:r>
            <a:r>
              <a:rPr lang="es-CL" sz="1800">
                <a:solidFill>
                  <a:srgbClr val="757070"/>
                </a:solidFill>
                <a:latin typeface="Calibri"/>
                <a:ea typeface="Calibri"/>
                <a:cs typeface="Calibri"/>
                <a:sym typeface="Calibri"/>
              </a:rPr>
              <a:t>ConectaPyme</a:t>
            </a:r>
            <a:r>
              <a:rPr lang="es-CL" sz="1800" b="0" i="0" u="none" strike="noStrike" cap="none">
                <a:solidFill>
                  <a:srgbClr val="75707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221" name="Google Shape;221;p11"/>
          <p:cNvSpPr txBox="1"/>
          <p:nvPr/>
        </p:nvSpPr>
        <p:spPr>
          <a:xfrm>
            <a:off x="0" y="1019051"/>
            <a:ext cx="12192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s-CL" sz="3600" b="0" i="0" u="none" strike="noStrike" cap="none">
                <a:solidFill>
                  <a:schemeClr val="dk1"/>
                </a:solidFill>
                <a:latin typeface="Calibri"/>
                <a:ea typeface="Calibri"/>
                <a:cs typeface="Calibri"/>
                <a:sym typeface="Calibri"/>
              </a:rPr>
              <a:t>Plan de pruebas</a:t>
            </a:r>
            <a:endParaRPr sz="1400" b="0" i="0" u="none" strike="noStrike" cap="none">
              <a:solidFill>
                <a:srgbClr val="000000"/>
              </a:solidFill>
              <a:latin typeface="Arial"/>
              <a:ea typeface="Arial"/>
              <a:cs typeface="Arial"/>
              <a:sym typeface="Arial"/>
            </a:endParaRPr>
          </a:p>
        </p:txBody>
      </p:sp>
      <p:cxnSp>
        <p:nvCxnSpPr>
          <p:cNvPr id="222" name="Google Shape;222;p11"/>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223" name="Google Shape;223;p11"/>
          <p:cNvSpPr txBox="1"/>
          <p:nvPr/>
        </p:nvSpPr>
        <p:spPr>
          <a:xfrm>
            <a:off x="8302414" y="2059797"/>
            <a:ext cx="3615900" cy="21486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500"/>
              <a:buFont typeface="Calibri"/>
              <a:buNone/>
            </a:pPr>
            <a:r>
              <a:rPr lang="es-CL" sz="1500">
                <a:solidFill>
                  <a:schemeClr val="dk1"/>
                </a:solidFill>
                <a:latin typeface="Calibri"/>
                <a:ea typeface="Calibri"/>
                <a:cs typeface="Calibri"/>
                <a:sym typeface="Calibri"/>
              </a:rPr>
              <a:t>Pruebas de automatización</a:t>
            </a:r>
            <a:endParaRPr sz="1500">
              <a:solidFill>
                <a:schemeClr val="dk1"/>
              </a:solidFill>
              <a:latin typeface="Calibri"/>
              <a:ea typeface="Calibri"/>
              <a:cs typeface="Calibri"/>
              <a:sym typeface="Calibri"/>
            </a:endParaRPr>
          </a:p>
          <a:p>
            <a:pPr marL="457200" marR="0" lvl="0" indent="-323850" algn="l" rtl="0">
              <a:spcBef>
                <a:spcPts val="0"/>
              </a:spcBef>
              <a:spcAft>
                <a:spcPts val="0"/>
              </a:spcAft>
              <a:buClr>
                <a:schemeClr val="dk1"/>
              </a:buClr>
              <a:buSzPts val="1500"/>
              <a:buFont typeface="Calibri"/>
              <a:buChar char="●"/>
            </a:pPr>
            <a:r>
              <a:rPr lang="es-CL" sz="1500">
                <a:solidFill>
                  <a:schemeClr val="dk1"/>
                </a:solidFill>
                <a:latin typeface="Calibri"/>
                <a:ea typeface="Calibri"/>
                <a:cs typeface="Calibri"/>
                <a:sym typeface="Calibri"/>
              </a:rPr>
              <a:t>K6: Prueba de usuarios conectados simultáneamente</a:t>
            </a:r>
            <a:endParaRPr sz="1500">
              <a:solidFill>
                <a:schemeClr val="dk1"/>
              </a:solidFill>
              <a:latin typeface="Calibri"/>
              <a:ea typeface="Calibri"/>
              <a:cs typeface="Calibri"/>
              <a:sym typeface="Calibri"/>
            </a:endParaRPr>
          </a:p>
          <a:p>
            <a:pPr marL="457200" marR="0" lvl="0" indent="-317500" algn="l" rtl="0">
              <a:spcBef>
                <a:spcPts val="0"/>
              </a:spcBef>
              <a:spcAft>
                <a:spcPts val="0"/>
              </a:spcAft>
              <a:buClr>
                <a:schemeClr val="dk1"/>
              </a:buClr>
              <a:buSzPts val="1400"/>
              <a:buFont typeface="Calibri"/>
              <a:buChar char="●"/>
            </a:pPr>
            <a:r>
              <a:rPr lang="es-CL" sz="1500">
                <a:solidFill>
                  <a:schemeClr val="dk1"/>
                </a:solidFill>
                <a:latin typeface="Calibri"/>
                <a:ea typeface="Calibri"/>
                <a:cs typeface="Calibri"/>
                <a:sym typeface="Calibri"/>
              </a:rPr>
              <a:t>Latencia de la página al momento de crear productos, reseñas, publicaciones.</a:t>
            </a:r>
            <a:endParaRPr sz="2800">
              <a:solidFill>
                <a:schemeClr val="dk1"/>
              </a:solidFill>
              <a:latin typeface="Calibri"/>
              <a:ea typeface="Calibri"/>
              <a:cs typeface="Calibri"/>
              <a:sym typeface="Calibri"/>
            </a:endParaRPr>
          </a:p>
        </p:txBody>
      </p:sp>
      <p:pic>
        <p:nvPicPr>
          <p:cNvPr id="224" name="Google Shape;224;p11"/>
          <p:cNvPicPr preferRelativeResize="0"/>
          <p:nvPr/>
        </p:nvPicPr>
        <p:blipFill rotWithShape="1">
          <a:blip r:embed="rId4">
            <a:alphaModFix/>
          </a:blip>
          <a:srcRect/>
          <a:stretch/>
        </p:blipFill>
        <p:spPr>
          <a:xfrm>
            <a:off x="136188" y="1558393"/>
            <a:ext cx="8030038" cy="4706606"/>
          </a:xfrm>
          <a:prstGeom prst="rect">
            <a:avLst/>
          </a:prstGeom>
          <a:noFill/>
          <a:ln>
            <a:noFill/>
          </a:ln>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12"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30" name="Google Shape;230;p12"/>
          <p:cNvSpPr txBox="1"/>
          <p:nvPr/>
        </p:nvSpPr>
        <p:spPr>
          <a:xfrm>
            <a:off x="0" y="828300"/>
            <a:ext cx="12192000"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s-CL" sz="4400" b="0" i="0" u="none" strike="noStrike" cap="none" dirty="0">
                <a:solidFill>
                  <a:schemeClr val="dk1"/>
                </a:solidFill>
                <a:latin typeface="Calibri"/>
                <a:ea typeface="Calibri"/>
                <a:cs typeface="Calibri"/>
                <a:sym typeface="Calibri"/>
              </a:rPr>
              <a:t>DEMOSTRACIÓN DEL RESULTADO DEL PROYECTO</a:t>
            </a:r>
            <a:endParaRPr sz="1400" b="0" i="0" u="none" strike="noStrike" cap="none" dirty="0">
              <a:solidFill>
                <a:srgbClr val="000000"/>
              </a:solidFill>
              <a:latin typeface="Arial"/>
              <a:ea typeface="Arial"/>
              <a:cs typeface="Arial"/>
              <a:sym typeface="Arial"/>
            </a:endParaRP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13"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36" name="Google Shape;236;p13"/>
          <p:cNvSpPr txBox="1"/>
          <p:nvPr/>
        </p:nvSpPr>
        <p:spPr>
          <a:xfrm>
            <a:off x="88776" y="770970"/>
            <a:ext cx="12192000" cy="769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s-CL" sz="4400" b="0" i="0" u="none" strike="noStrike" cap="none">
                <a:solidFill>
                  <a:schemeClr val="dk1"/>
                </a:solidFill>
                <a:latin typeface="Calibri"/>
                <a:ea typeface="Calibri"/>
                <a:cs typeface="Calibri"/>
                <a:sym typeface="Calibri"/>
              </a:rPr>
              <a:t>Resultados obtenidos</a:t>
            </a:r>
            <a:endParaRPr sz="1400" b="0" i="0" u="none" strike="noStrike" cap="none">
              <a:solidFill>
                <a:srgbClr val="000000"/>
              </a:solidFill>
              <a:latin typeface="Arial"/>
              <a:ea typeface="Arial"/>
              <a:cs typeface="Arial"/>
              <a:sym typeface="Arial"/>
            </a:endParaRPr>
          </a:p>
        </p:txBody>
      </p:sp>
      <p:sp>
        <p:nvSpPr>
          <p:cNvPr id="237" name="Google Shape;237;p13"/>
          <p:cNvSpPr txBox="1"/>
          <p:nvPr/>
        </p:nvSpPr>
        <p:spPr>
          <a:xfrm>
            <a:off x="766625" y="1700275"/>
            <a:ext cx="10276800" cy="4350900"/>
          </a:xfrm>
          <a:prstGeom prst="rect">
            <a:avLst/>
          </a:prstGeom>
          <a:noFill/>
          <a:ln>
            <a:noFill/>
          </a:ln>
        </p:spPr>
        <p:txBody>
          <a:bodyPr spcFirstLastPara="1" wrap="square" lIns="91425" tIns="91425" rIns="91425" bIns="91425" anchor="t" anchorCtr="0">
            <a:noAutofit/>
          </a:bodyPr>
          <a:lstStyle/>
          <a:p>
            <a:pPr marL="457200" marR="0" lvl="0" indent="-361950" algn="l" rtl="0">
              <a:spcBef>
                <a:spcPts val="0"/>
              </a:spcBef>
              <a:spcAft>
                <a:spcPts val="0"/>
              </a:spcAft>
              <a:buClr>
                <a:schemeClr val="dk1"/>
              </a:buClr>
              <a:buSzPts val="2100"/>
              <a:buFont typeface="Calibri"/>
              <a:buChar char="●"/>
            </a:pPr>
            <a:r>
              <a:rPr lang="es-CL" sz="2100">
                <a:solidFill>
                  <a:schemeClr val="dk1"/>
                </a:solidFill>
                <a:latin typeface="Calibri"/>
                <a:ea typeface="Calibri"/>
                <a:cs typeface="Calibri"/>
                <a:sym typeface="Calibri"/>
              </a:rPr>
              <a:t>Se desarrolló una plataforma completamente funcional, dándoles un espacio a las pymes y distribuidores para poder digitalizar sus empresas, darles visibilidad y solucionando su principal problema.</a:t>
            </a:r>
            <a:endParaRPr sz="2100">
              <a:solidFill>
                <a:schemeClr val="dk1"/>
              </a:solidFill>
              <a:latin typeface="Calibri"/>
              <a:ea typeface="Calibri"/>
              <a:cs typeface="Calibri"/>
              <a:sym typeface="Calibri"/>
            </a:endParaRPr>
          </a:p>
          <a:p>
            <a:pPr marL="457200" marR="0" lvl="0" indent="-361950" algn="l" rtl="0">
              <a:spcBef>
                <a:spcPts val="0"/>
              </a:spcBef>
              <a:spcAft>
                <a:spcPts val="0"/>
              </a:spcAft>
              <a:buClr>
                <a:schemeClr val="dk1"/>
              </a:buClr>
              <a:buSzPts val="2100"/>
              <a:buFont typeface="Calibri"/>
              <a:buChar char="●"/>
            </a:pPr>
            <a:r>
              <a:rPr lang="es-CL" sz="2100">
                <a:solidFill>
                  <a:schemeClr val="dk1"/>
                </a:solidFill>
                <a:latin typeface="Calibri"/>
                <a:ea typeface="Calibri"/>
                <a:cs typeface="Calibri"/>
                <a:sym typeface="Calibri"/>
              </a:rPr>
              <a:t>Se logró simular que al menos 250 personas puedan ingresar a la página sin ningún problema, para poder lanzar un piloto eficaz y funcional.</a:t>
            </a:r>
            <a:endParaRPr sz="2100">
              <a:solidFill>
                <a:schemeClr val="dk1"/>
              </a:solidFill>
              <a:latin typeface="Calibri"/>
              <a:ea typeface="Calibri"/>
              <a:cs typeface="Calibri"/>
              <a:sym typeface="Calibri"/>
            </a:endParaRPr>
          </a:p>
          <a:p>
            <a:pPr marL="457200" marR="0" lvl="0" indent="-361950" algn="l" rtl="0">
              <a:spcBef>
                <a:spcPts val="0"/>
              </a:spcBef>
              <a:spcAft>
                <a:spcPts val="0"/>
              </a:spcAft>
              <a:buClr>
                <a:schemeClr val="dk1"/>
              </a:buClr>
              <a:buSzPts val="2100"/>
              <a:buFont typeface="Calibri"/>
              <a:buChar char="●"/>
            </a:pPr>
            <a:r>
              <a:rPr lang="es-CL" sz="2100">
                <a:solidFill>
                  <a:schemeClr val="dk1"/>
                </a:solidFill>
                <a:latin typeface="Calibri"/>
                <a:ea typeface="Calibri"/>
                <a:cs typeface="Calibri"/>
                <a:sym typeface="Calibri"/>
              </a:rPr>
              <a:t>Sistema de verificación mediante SII para evitar empresas fantasma/estafas/etc.</a:t>
            </a:r>
            <a:endParaRPr sz="2100">
              <a:solidFill>
                <a:schemeClr val="dk1"/>
              </a:solidFill>
              <a:latin typeface="Calibri"/>
              <a:ea typeface="Calibri"/>
              <a:cs typeface="Calibri"/>
              <a:sym typeface="Calibri"/>
            </a:endParaRPr>
          </a:p>
          <a:p>
            <a:pPr marL="457200" marR="0" lvl="0" indent="-361950" algn="l" rtl="0">
              <a:spcBef>
                <a:spcPts val="0"/>
              </a:spcBef>
              <a:spcAft>
                <a:spcPts val="0"/>
              </a:spcAft>
              <a:buClr>
                <a:schemeClr val="dk1"/>
              </a:buClr>
              <a:buSzPts val="2100"/>
              <a:buFont typeface="Calibri"/>
              <a:buChar char="●"/>
            </a:pPr>
            <a:r>
              <a:rPr lang="es-CL" sz="2100">
                <a:solidFill>
                  <a:schemeClr val="dk1"/>
                </a:solidFill>
                <a:latin typeface="Calibri"/>
                <a:ea typeface="Calibri"/>
                <a:cs typeface="Calibri"/>
                <a:sym typeface="Calibri"/>
              </a:rPr>
              <a:t>Sistema de localización mediante maps, para localizar a las empresas en su ubicación exacta.</a:t>
            </a:r>
            <a:endParaRPr sz="2100">
              <a:solidFill>
                <a:schemeClr val="dk1"/>
              </a:solidFill>
              <a:latin typeface="Calibri"/>
              <a:ea typeface="Calibri"/>
              <a:cs typeface="Calibri"/>
              <a:sym typeface="Calibri"/>
            </a:endParaRPr>
          </a:p>
          <a:p>
            <a:pPr marL="457200" marR="0" lvl="0" indent="-361950" algn="l" rtl="0">
              <a:spcBef>
                <a:spcPts val="0"/>
              </a:spcBef>
              <a:spcAft>
                <a:spcPts val="0"/>
              </a:spcAft>
              <a:buClr>
                <a:schemeClr val="dk1"/>
              </a:buClr>
              <a:buSzPts val="2100"/>
              <a:buFont typeface="Calibri"/>
              <a:buChar char="●"/>
            </a:pPr>
            <a:r>
              <a:rPr lang="es-CL" sz="2100">
                <a:solidFill>
                  <a:schemeClr val="dk1"/>
                </a:solidFill>
                <a:latin typeface="Calibri"/>
                <a:ea typeface="Calibri"/>
                <a:cs typeface="Calibri"/>
                <a:sym typeface="Calibri"/>
              </a:rPr>
              <a:t>Sistema de mensajería en tiempo real, pudiendo entablar nuevo negocios,posibles socios y romper la barrera de la comunicación.</a:t>
            </a:r>
            <a:endParaRPr sz="2100">
              <a:solidFill>
                <a:schemeClr val="dk1"/>
              </a:solidFill>
              <a:latin typeface="Calibri"/>
              <a:ea typeface="Calibri"/>
              <a:cs typeface="Calibri"/>
              <a:sym typeface="Calibri"/>
            </a:endParaRPr>
          </a:p>
          <a:p>
            <a:pPr marL="457200" marR="0" lvl="0" indent="-361950" algn="l" rtl="0">
              <a:spcBef>
                <a:spcPts val="0"/>
              </a:spcBef>
              <a:spcAft>
                <a:spcPts val="0"/>
              </a:spcAft>
              <a:buClr>
                <a:schemeClr val="dk1"/>
              </a:buClr>
              <a:buSzPts val="2100"/>
              <a:buFont typeface="Calibri"/>
              <a:buChar char="●"/>
            </a:pPr>
            <a:r>
              <a:rPr lang="es-CL" sz="2100">
                <a:solidFill>
                  <a:schemeClr val="dk1"/>
                </a:solidFill>
                <a:latin typeface="Calibri"/>
                <a:ea typeface="Calibri"/>
                <a:cs typeface="Calibri"/>
                <a:sym typeface="Calibri"/>
              </a:rPr>
              <a:t>Se implementó búsqueda avanzada con filtros por categoría/ precio/Sector, para que puedan encontrar el producto de su preferencia al mejor precio que se adapte a sus bolsillos.</a:t>
            </a:r>
            <a:endParaRPr sz="2100">
              <a:solidFill>
                <a:schemeClr val="dk1"/>
              </a:solidFill>
              <a:latin typeface="Calibri"/>
              <a:ea typeface="Calibri"/>
              <a:cs typeface="Calibri"/>
              <a:sym typeface="Calibri"/>
            </a:endParaRPr>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3adb49ca0c1_7_133"/>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s-CL"/>
              <a:t>Validación del producto</a:t>
            </a:r>
            <a:endParaRPr/>
          </a:p>
        </p:txBody>
      </p:sp>
      <p:pic>
        <p:nvPicPr>
          <p:cNvPr id="243" name="Google Shape;243;g3adb49ca0c1_7_133"/>
          <p:cNvPicPr preferRelativeResize="0"/>
          <p:nvPr/>
        </p:nvPicPr>
        <p:blipFill>
          <a:blip r:embed="rId3">
            <a:alphaModFix/>
          </a:blip>
          <a:stretch>
            <a:fillRect/>
          </a:stretch>
        </p:blipFill>
        <p:spPr>
          <a:xfrm>
            <a:off x="1019550" y="1908027"/>
            <a:ext cx="5586900" cy="4049925"/>
          </a:xfrm>
          <a:prstGeom prst="rect">
            <a:avLst/>
          </a:prstGeom>
          <a:noFill/>
          <a:ln>
            <a:noFill/>
          </a:ln>
        </p:spPr>
      </p:pic>
      <p:sp>
        <p:nvSpPr>
          <p:cNvPr id="244" name="Google Shape;244;g3adb49ca0c1_7_133"/>
          <p:cNvSpPr txBox="1"/>
          <p:nvPr/>
        </p:nvSpPr>
        <p:spPr>
          <a:xfrm>
            <a:off x="7551950" y="2333350"/>
            <a:ext cx="4168200" cy="351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CL" sz="2000">
                <a:solidFill>
                  <a:srgbClr val="3F3F3F"/>
                </a:solidFill>
                <a:latin typeface="Calibri"/>
                <a:ea typeface="Calibri"/>
                <a:cs typeface="Calibri"/>
                <a:sym typeface="Calibri"/>
              </a:rPr>
              <a:t>De un total de 1.145 encuestados, el 76,3% (874 personas) indicó que sí usaría la plataforma, mientras que el 23,7% (271 personas) respondió que no. Este resultado valida el interés por la solución y se utiliza como principal indicador de éxito para el piloto de ConectaPyme.</a:t>
            </a:r>
            <a:endParaRPr sz="2000">
              <a:solidFill>
                <a:srgbClr val="3F3F3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249" name="Google Shape;249;p14"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50" name="Google Shape;250;p14"/>
          <p:cNvSpPr txBox="1"/>
          <p:nvPr/>
        </p:nvSpPr>
        <p:spPr>
          <a:xfrm>
            <a:off x="1" y="1360773"/>
            <a:ext cx="12191999"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s-CL" sz="4400" b="0" i="0" u="none" strike="noStrike" cap="none">
                <a:solidFill>
                  <a:schemeClr val="dk1"/>
                </a:solidFill>
                <a:latin typeface="Calibri"/>
                <a:ea typeface="Calibri"/>
                <a:cs typeface="Calibri"/>
                <a:sym typeface="Calibri"/>
              </a:rPr>
              <a:t>Obstáculos presentados durante el desarrollo</a:t>
            </a:r>
            <a:endParaRPr sz="1400" b="0" i="0" u="none" strike="noStrike" cap="none">
              <a:solidFill>
                <a:srgbClr val="000000"/>
              </a:solidFill>
              <a:latin typeface="Arial"/>
              <a:ea typeface="Arial"/>
              <a:cs typeface="Arial"/>
              <a:sym typeface="Arial"/>
            </a:endParaRPr>
          </a:p>
        </p:txBody>
      </p:sp>
      <p:sp>
        <p:nvSpPr>
          <p:cNvPr id="251" name="Google Shape;251;p14"/>
          <p:cNvSpPr txBox="1"/>
          <p:nvPr/>
        </p:nvSpPr>
        <p:spPr>
          <a:xfrm>
            <a:off x="932375" y="2404794"/>
            <a:ext cx="10525200" cy="40635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2800"/>
              <a:buFont typeface="Calibri"/>
              <a:buNone/>
            </a:pPr>
            <a:r>
              <a:rPr lang="es-CL" sz="2800">
                <a:solidFill>
                  <a:schemeClr val="dk1"/>
                </a:solidFill>
                <a:latin typeface="Calibri"/>
                <a:ea typeface="Calibri"/>
                <a:cs typeface="Calibri"/>
                <a:sym typeface="Calibri"/>
              </a:rPr>
              <a:t>Al migrar la plataforma web a Mobile se presentó un problema con los tipos de versiones.</a:t>
            </a:r>
            <a:endParaRPr sz="28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800"/>
              <a:buFont typeface="Calibri"/>
              <a:buNone/>
            </a:pPr>
            <a:r>
              <a:rPr lang="es-CL" sz="2800">
                <a:solidFill>
                  <a:schemeClr val="dk1"/>
                </a:solidFill>
                <a:latin typeface="Calibri"/>
                <a:ea typeface="Calibri"/>
                <a:cs typeface="Calibri"/>
                <a:sym typeface="Calibri"/>
              </a:rPr>
              <a:t>Falta de coordinación al inicio del proyecto.</a:t>
            </a:r>
            <a:endParaRPr sz="28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800"/>
              <a:buFont typeface="Calibri"/>
              <a:buNone/>
            </a:pPr>
            <a:r>
              <a:rPr lang="es-CL" sz="2800">
                <a:solidFill>
                  <a:schemeClr val="dk1"/>
                </a:solidFill>
                <a:latin typeface="Calibri"/>
                <a:ea typeface="Calibri"/>
                <a:cs typeface="Calibri"/>
                <a:sym typeface="Calibri"/>
              </a:rPr>
              <a:t>Tiempo a nivel general por cada integrante.</a:t>
            </a:r>
            <a:endParaRPr sz="28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800"/>
              <a:buFont typeface="Calibri"/>
              <a:buNone/>
            </a:pPr>
            <a:r>
              <a:rPr lang="es-CL" sz="2800">
                <a:solidFill>
                  <a:schemeClr val="dk1"/>
                </a:solidFill>
                <a:latin typeface="Calibri"/>
                <a:ea typeface="Calibri"/>
                <a:cs typeface="Calibri"/>
                <a:sym typeface="Calibri"/>
              </a:rPr>
              <a:t>Recursos para poder realizar un proyecto más grande</a:t>
            </a:r>
            <a:endParaRPr sz="28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p:txBody>
      </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g3adb49ca0c1_0_1"/>
          <p:cNvSpPr txBox="1">
            <a:spLocks noGrp="1"/>
          </p:cNvSpPr>
          <p:nvPr>
            <p:ph type="ctrTitle"/>
          </p:nvPr>
        </p:nvSpPr>
        <p:spPr>
          <a:xfrm>
            <a:off x="3960000" y="397000"/>
            <a:ext cx="4272000" cy="960600"/>
          </a:xfrm>
          <a:prstGeom prst="rect">
            <a:avLst/>
          </a:prstGeom>
        </p:spPr>
        <p:txBody>
          <a:bodyPr spcFirstLastPara="1" wrap="square" lIns="91425" tIns="45700" rIns="91425" bIns="45700" anchor="b" anchorCtr="0">
            <a:normAutofit fontScale="90000"/>
          </a:bodyPr>
          <a:lstStyle/>
          <a:p>
            <a:pPr marL="0" lvl="0" indent="0" algn="l" rtl="0">
              <a:spcBef>
                <a:spcPts val="0"/>
              </a:spcBef>
              <a:spcAft>
                <a:spcPts val="0"/>
              </a:spcAft>
              <a:buNone/>
            </a:pPr>
            <a:r>
              <a:rPr lang="es-CL"/>
              <a:t>Conclusión</a:t>
            </a:r>
            <a:endParaRPr/>
          </a:p>
        </p:txBody>
      </p:sp>
      <p:sp>
        <p:nvSpPr>
          <p:cNvPr id="257" name="Google Shape;257;g3adb49ca0c1_0_1"/>
          <p:cNvSpPr txBox="1">
            <a:spLocks noGrp="1"/>
          </p:cNvSpPr>
          <p:nvPr>
            <p:ph type="subTitle" idx="1"/>
          </p:nvPr>
        </p:nvSpPr>
        <p:spPr>
          <a:xfrm>
            <a:off x="653450" y="1935375"/>
            <a:ext cx="10566600" cy="2858400"/>
          </a:xfrm>
          <a:prstGeom prst="rect">
            <a:avLst/>
          </a:prstGeom>
        </p:spPr>
        <p:txBody>
          <a:bodyPr spcFirstLastPara="1" wrap="square" lIns="91425" tIns="45700" rIns="91425" bIns="45700" anchor="t" anchorCtr="0">
            <a:noAutofit/>
          </a:bodyPr>
          <a:lstStyle/>
          <a:p>
            <a:pPr marL="457200" lvl="0" indent="-228600" algn="just" rtl="0">
              <a:lnSpc>
                <a:spcPct val="115000"/>
              </a:lnSpc>
              <a:spcBef>
                <a:spcPts val="0"/>
              </a:spcBef>
              <a:spcAft>
                <a:spcPts val="0"/>
              </a:spcAft>
              <a:buClr>
                <a:schemeClr val="dk1"/>
              </a:buClr>
              <a:buSzPts val="1800"/>
              <a:buFont typeface="Arial"/>
              <a:buNone/>
            </a:pPr>
            <a:r>
              <a:rPr lang="es-CL" sz="1800">
                <a:solidFill>
                  <a:schemeClr val="dk1"/>
                </a:solidFill>
                <a:latin typeface="Arial"/>
                <a:ea typeface="Arial"/>
                <a:cs typeface="Arial"/>
                <a:sym typeface="Arial"/>
              </a:rPr>
              <a:t>ConectaPyme surge para cerrar la brecha que tienen muchas PYMES y distribuidores al momento de digitalizarse y encontrar nuevos negocios. Hoy no cuentan con un lugar único y confiable donde buscar oportunidades, mostrar sus productos y conectar con otras empresas. La plataforma permite registrar empresas, verificar su información con el SII, crear catálogos de productos, comparar ofertas y comunicarse mediante un sistema de mensajería en tiempo real. Aunque la versión piloto está enfocada solo en la Región Metropolitana, se logró desarrollar una plataforma funcional que sienta las bases para futuras mejoras y expansión.</a:t>
            </a:r>
            <a:endParaRPr sz="1800">
              <a:solidFill>
                <a:schemeClr val="dk1"/>
              </a:solidFill>
              <a:latin typeface="Arial"/>
              <a:ea typeface="Arial"/>
              <a:cs typeface="Arial"/>
              <a:sym typeface="Arial"/>
            </a:endParaRPr>
          </a:p>
          <a:p>
            <a:pPr marL="0" lvl="0" indent="0" algn="l" rtl="0">
              <a:spcBef>
                <a:spcPts val="1200"/>
              </a:spcBef>
              <a:spcAft>
                <a:spcPts val="200"/>
              </a:spcAft>
              <a:buNone/>
            </a:pPr>
            <a:endParaRPr sz="180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pic>
        <p:nvPicPr>
          <p:cNvPr id="262" name="Google Shape;262;p15"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63" name="Google Shape;263;p15"/>
          <p:cNvSpPr txBox="1"/>
          <p:nvPr/>
        </p:nvSpPr>
        <p:spPr>
          <a:xfrm>
            <a:off x="0" y="3044279"/>
            <a:ext cx="12191999"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s-CL" sz="4400" b="0" i="0" u="none" strike="noStrike" cap="none">
                <a:solidFill>
                  <a:schemeClr val="dk1"/>
                </a:solidFill>
                <a:latin typeface="Calibri"/>
                <a:ea typeface="Calibri"/>
                <a:cs typeface="Calibri"/>
                <a:sym typeface="Calibri"/>
              </a:rPr>
              <a:t>PREGUNTAS DE LA COMISIÓN</a:t>
            </a:r>
            <a:endParaRPr sz="1400" b="0" i="0" u="none" strike="noStrike" cap="none">
              <a:solidFill>
                <a:srgbClr val="000000"/>
              </a:solidFill>
              <a:latin typeface="Arial"/>
              <a:ea typeface="Arial"/>
              <a:cs typeface="Arial"/>
              <a:sym typeface="Arial"/>
            </a:endParaRPr>
          </a:p>
        </p:txBody>
      </p:sp>
    </p:spTree>
  </p:cSld>
  <p:clrMapOvr>
    <a:masterClrMapping/>
  </p:clrMapOvr>
  <p:transition spd="slow">
    <p:wipe/>
  </p:transition>
</p:sld>
</file>

<file path=ppt/theme/theme1.xml><?xml version="1.0" encoding="utf-8"?>
<a:theme xmlns:a="http://schemas.openxmlformats.org/drawingml/2006/main" name="Retrospección">
  <a:themeElements>
    <a:clrScheme name="Retrospección">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1021</Words>
  <Application>Microsoft Office PowerPoint</Application>
  <PresentationFormat>Panorámica</PresentationFormat>
  <Paragraphs>120</Paragraphs>
  <Slides>17</Slides>
  <Notes>17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Arial</vt:lpstr>
      <vt:lpstr>Calibri</vt:lpstr>
      <vt:lpstr>Lato</vt:lpstr>
      <vt:lpstr>Retrospección</vt:lpstr>
      <vt:lpstr>Presentación de PowerPoint</vt:lpstr>
      <vt:lpstr>Presentación de PowerPoint</vt:lpstr>
      <vt:lpstr>Presentación de PowerPoint</vt:lpstr>
      <vt:lpstr>Encuestas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Validación del producto</vt:lpstr>
      <vt:lpstr>Presentación de PowerPoint</vt:lpstr>
      <vt:lpstr>Conclusión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Gerardo Galan Cruz</dc:creator>
  <cp:lastModifiedBy>LEONARDO IVAN JARA BAHAMONDEZ</cp:lastModifiedBy>
  <cp:revision>3</cp:revision>
  <dcterms:created xsi:type="dcterms:W3CDTF">2023-10-28T21:12:11Z</dcterms:created>
  <dcterms:modified xsi:type="dcterms:W3CDTF">2025-12-09T21:20:34Z</dcterms:modified>
</cp:coreProperties>
</file>